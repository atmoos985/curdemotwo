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0d8ed0093e4276" /><Relationship Type="http://schemas.openxmlformats.org/officeDocument/2006/relationships/extended-properties" Target="/docProps/app.xml" Id="Rd0088c864a384904" /><Relationship Type="http://schemas.openxmlformats.org/officeDocument/2006/relationships/officeDocument" Target="/ppt/presentation.xml" Id="R558c2b39ac1744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ca1257f65646a6"/>
  </p:sldMasterIdLst>
  <p:notesMasterIdLst>
    <p:notesMasterId xmlns:r="http://schemas.openxmlformats.org/officeDocument/2006/relationships" r:id="R190d465f700c4479"/>
  </p:notesMasterIdLst>
  <p:sldIdLst>
    <p:sldId xmlns:r="http://schemas.openxmlformats.org/officeDocument/2006/relationships" id="256" r:id="R4e5a7045c0fa48f2"/>
    <p:sldId xmlns:r="http://schemas.openxmlformats.org/officeDocument/2006/relationships" id="257" r:id="R02643a586ab94dea"/>
    <p:sldId xmlns:r="http://schemas.openxmlformats.org/officeDocument/2006/relationships" id="258" r:id="Re1a6382e22ec440d"/>
    <p:sldId xmlns:r="http://schemas.openxmlformats.org/officeDocument/2006/relationships" id="259" r:id="R36f3915ea2c54d50"/>
    <p:sldId xmlns:r="http://schemas.openxmlformats.org/officeDocument/2006/relationships" id="260" r:id="R656b836782dc4286"/>
    <p:sldId xmlns:r="http://schemas.openxmlformats.org/officeDocument/2006/relationships" id="261" r:id="R66dc217f8a034f29"/>
    <p:sldId xmlns:r="http://schemas.openxmlformats.org/officeDocument/2006/relationships" id="262" r:id="Rf1a2aa7f5e1e489d"/>
    <p:sldId xmlns:r="http://schemas.openxmlformats.org/officeDocument/2006/relationships" id="263" r:id="R291dbef1e2464c50"/>
    <p:sldId xmlns:r="http://schemas.openxmlformats.org/officeDocument/2006/relationships" id="264" r:id="R860a71f322864082"/>
    <p:sldId xmlns:r="http://schemas.openxmlformats.org/officeDocument/2006/relationships" id="265" r:id="R167fe71eaa3c458b"/>
    <p:sldId xmlns:r="http://schemas.openxmlformats.org/officeDocument/2006/relationships" id="266" r:id="Rfd7c91afa80e45f5"/>
    <p:sldId xmlns:r="http://schemas.openxmlformats.org/officeDocument/2006/relationships" id="267" r:id="Rff1a860136a349d4"/>
    <p:sldId xmlns:r="http://schemas.openxmlformats.org/officeDocument/2006/relationships" id="268" r:id="Rd7f35d3bc4cd4a96"/>
    <p:sldId xmlns:r="http://schemas.openxmlformats.org/officeDocument/2006/relationships" id="269" r:id="R5ef410415e144268"/>
    <p:sldId xmlns:r="http://schemas.openxmlformats.org/officeDocument/2006/relationships" id="270" r:id="R833413e6ec604c2b"/>
    <p:sldId xmlns:r="http://schemas.openxmlformats.org/officeDocument/2006/relationships" id="271" r:id="Rc14ca72cbadf4d5b"/>
    <p:sldId xmlns:r="http://schemas.openxmlformats.org/officeDocument/2006/relationships" id="272" r:id="R660ee3eac61243b2"/>
    <p:sldId xmlns:r="http://schemas.openxmlformats.org/officeDocument/2006/relationships" id="273" r:id="R80f0f80d974c4c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0bff97b79b4c20" /><Relationship Type="http://schemas.openxmlformats.org/officeDocument/2006/relationships/slideMaster" Target="/ppt/slideMasters/slideMaster1.xml" Id="Rb0ca1257f65646a6" /><Relationship Type="http://schemas.openxmlformats.org/officeDocument/2006/relationships/notesMaster" Target="/ppt/notesMasters/notesMaster1.xml" Id="R190d465f700c4479" /><Relationship Type="http://schemas.openxmlformats.org/officeDocument/2006/relationships/presProps" Target="/ppt/presProps.xml" Id="R95a53891be5940cf" /><Relationship Type="http://schemas.openxmlformats.org/officeDocument/2006/relationships/tableStyles" Target="/ppt/tableStyles.xml" Id="R85293258cfce4662" /><Relationship Type="http://schemas.openxmlformats.org/officeDocument/2006/relationships/slide" Target="/ppt/slides/slide1.xml" Id="R4e5a7045c0fa48f2" /><Relationship Type="http://schemas.openxmlformats.org/officeDocument/2006/relationships/slide" Target="/ppt/slides/slide2.xml" Id="R02643a586ab94dea" /><Relationship Type="http://schemas.openxmlformats.org/officeDocument/2006/relationships/slide" Target="/ppt/slides/slide3.xml" Id="Re1a6382e22ec440d" /><Relationship Type="http://schemas.openxmlformats.org/officeDocument/2006/relationships/slide" Target="/ppt/slides/slide4.xml" Id="R36f3915ea2c54d50" /><Relationship Type="http://schemas.openxmlformats.org/officeDocument/2006/relationships/slide" Target="/ppt/slides/slide5.xml" Id="R656b836782dc4286" /><Relationship Type="http://schemas.openxmlformats.org/officeDocument/2006/relationships/slide" Target="/ppt/slides/slide6.xml" Id="R66dc217f8a034f29" /><Relationship Type="http://schemas.openxmlformats.org/officeDocument/2006/relationships/slide" Target="/ppt/slides/slide7.xml" Id="Rf1a2aa7f5e1e489d" /><Relationship Type="http://schemas.openxmlformats.org/officeDocument/2006/relationships/slide" Target="/ppt/slides/slide8.xml" Id="R291dbef1e2464c50" /><Relationship Type="http://schemas.openxmlformats.org/officeDocument/2006/relationships/slide" Target="/ppt/slides/slide9.xml" Id="R860a71f322864082" /><Relationship Type="http://schemas.openxmlformats.org/officeDocument/2006/relationships/slide" Target="/ppt/slides/slide10.xml" Id="R167fe71eaa3c458b" /><Relationship Type="http://schemas.openxmlformats.org/officeDocument/2006/relationships/slide" Target="/ppt/slides/slide11.xml" Id="Rfd7c91afa80e45f5" /><Relationship Type="http://schemas.openxmlformats.org/officeDocument/2006/relationships/slide" Target="/ppt/slides/slide12.xml" Id="Rff1a860136a349d4" /><Relationship Type="http://schemas.openxmlformats.org/officeDocument/2006/relationships/slide" Target="/ppt/slides/slide13.xml" Id="Rd7f35d3bc4cd4a96" /><Relationship Type="http://schemas.openxmlformats.org/officeDocument/2006/relationships/slide" Target="/ppt/slides/slide14.xml" Id="R5ef410415e144268" /><Relationship Type="http://schemas.openxmlformats.org/officeDocument/2006/relationships/slide" Target="/ppt/slides/slide15.xml" Id="R833413e6ec604c2b" /><Relationship Type="http://schemas.openxmlformats.org/officeDocument/2006/relationships/slide" Target="/ppt/slides/slide16.xml" Id="Rc14ca72cbadf4d5b" /><Relationship Type="http://schemas.openxmlformats.org/officeDocument/2006/relationships/slide" Target="/ppt/slides/slide17.xml" Id="R660ee3eac61243b2" /><Relationship Type="http://schemas.openxmlformats.org/officeDocument/2006/relationships/slide" Target="/ppt/slides/slide18.xml" Id="R80f0f80d974c4c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8b2d18f36644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ee8f2ef0044951" /><Relationship Type="http://schemas.openxmlformats.org/officeDocument/2006/relationships/notesMaster" Target="/ppt/notesMasters/notesMaster1.xml" Id="Rd30e5f81ed9346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76d444f53447db" /><Relationship Type="http://schemas.openxmlformats.org/officeDocument/2006/relationships/notesMaster" Target="/ppt/notesMasters/notesMaster1.xml" Id="R146942e9a5d346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0de61b7c12403c" /><Relationship Type="http://schemas.openxmlformats.org/officeDocument/2006/relationships/notesMaster" Target="/ppt/notesMasters/notesMaster1.xml" Id="Rda36605d161d44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2ee9dbb8354a7b" /><Relationship Type="http://schemas.openxmlformats.org/officeDocument/2006/relationships/notesMaster" Target="/ppt/notesMasters/notesMaster1.xml" Id="R9ab5f21e52fc43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dc1947fe104de8" /><Relationship Type="http://schemas.openxmlformats.org/officeDocument/2006/relationships/notesMaster" Target="/ppt/notesMasters/notesMaster1.xml" Id="R2a411b52e6e34a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e185a7bd5146f2" /><Relationship Type="http://schemas.openxmlformats.org/officeDocument/2006/relationships/notesMaster" Target="/ppt/notesMasters/notesMaster1.xml" Id="R721665c814284c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a7f02b716f476a" /><Relationship Type="http://schemas.openxmlformats.org/officeDocument/2006/relationships/notesMaster" Target="/ppt/notesMasters/notesMaster1.xml" Id="R2144fc2afc934f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f772f984034da0" /><Relationship Type="http://schemas.openxmlformats.org/officeDocument/2006/relationships/notesMaster" Target="/ppt/notesMasters/notesMaster1.xml" Id="Rc60f05d5b203411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df4586164e4cf0" /><Relationship Type="http://schemas.openxmlformats.org/officeDocument/2006/relationships/notesMaster" Target="/ppt/notesMasters/notesMaster1.xml" Id="R94f514981f6741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49767dac83477c" /><Relationship Type="http://schemas.openxmlformats.org/officeDocument/2006/relationships/notesMaster" Target="/ppt/notesMasters/notesMaster1.xml" Id="R620b747f92d847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9f37cbcedd447e" /><Relationship Type="http://schemas.openxmlformats.org/officeDocument/2006/relationships/notesMaster" Target="/ppt/notesMasters/notesMaster1.xml" Id="Rcc54346a57d64a9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6a388b466134a03" /><Relationship Type="http://schemas.openxmlformats.org/officeDocument/2006/relationships/notesMaster" Target="/ppt/notesMasters/notesMaster1.xml" Id="Rc297f59894cf4ea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01afb55c5924669" /><Relationship Type="http://schemas.openxmlformats.org/officeDocument/2006/relationships/notesMaster" Target="/ppt/notesMasters/notesMaster1.xml" Id="R49fc6eef886145b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0333c80e2574b3f" /><Relationship Type="http://schemas.openxmlformats.org/officeDocument/2006/relationships/notesMaster" Target="/ppt/notesMasters/notesMaster1.xml" Id="R3a79b4e68063454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84c7adbdd294334" /><Relationship Type="http://schemas.openxmlformats.org/officeDocument/2006/relationships/notesMaster" Target="/ppt/notesMasters/notesMaster1.xml" Id="Re32f9c6996e74c0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80b452d050e4dcd" /><Relationship Type="http://schemas.openxmlformats.org/officeDocument/2006/relationships/notesMaster" Target="/ppt/notesMasters/notesMaster1.xml" Id="Rac8fa1f44c294de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10a8debc29046df" /><Relationship Type="http://schemas.openxmlformats.org/officeDocument/2006/relationships/notesMaster" Target="/ppt/notesMasters/notesMaster1.xml" Id="Rc057b1d5c93b4b5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8b9f80d29334475" /><Relationship Type="http://schemas.openxmlformats.org/officeDocument/2006/relationships/notesMaster" Target="/ppt/notesMasters/notesMaster1.xml" Id="Rb5c676d2de6b49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服装裁片概念插画，不代表实际设备或生产现场。本方案以通用场景说明业务能力，未使用真实订单或客户数据。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板材在这里指具有明确边界的整块材料，服装场景重点为片状衬材与定尺料块。硬质板材的夹持、刀具与工艺须另行验证。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本页的一维能力特指幅宽搭切业务。其服装应用属于按相同业务模型作出的场景映射，需确认材料与加工条件。不披露实现方法。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纯教学数据。第二种组合未覆盖500 mm规格。宽度求和与订单覆盖仅用于说明业务判断，不构成任何性能或收益承诺。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现有矩形与异形能力边界依据当前功能说明核对。异形排料的边界输出不等于机床执行程序。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匿名上衣样本。本次生成结果为4件排入、0件未排。素材来源为当前程序的无库存副作用预览。所有曲边为折线示意，未验证生产纸样及实机加工。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匿名裤装样本。本次生成结果为6件排入、0件未排。只是给定数量的几何排料，不表示自动建立左右对称、号型或整套约束。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匿名半裙样本。本次生成结果为5件排入、1件未排，不宣称全局最优或已证明无法全部排入。不得把本次排入件数当作合格报工数量。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匿名矩形示例，使用当前程序生成。几何位置与候选余料用于方案复核，生产仍须满足设备工艺并确认实际裁切结果。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匿名简单多边形排料结果，含L形材料、L形与三角零件以及矩形禁放区。支持不规则边界不代表支持孔洞、镜像或任意旋转。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矩形生产工作流具备工位接续与报工处理。独立异形排料目前限于整块加工区，不应对外宣称已经完成异形连续送料全流程。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场景适配说明。简单多边形材料的几何排料已有基础，真实异形料头的建档、保管与生产回写需按项目补齐。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矩形料头复用以实际登记库存为基础。排料预览中的候选余料不等于已入库料头。父料头与子料头不得重复计为可用材料。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本页右列为项目工艺确认项，不表示这些服装专用约束已经全部自动化支持。当前不支持镜像、任意角度旋转、原生曲线和非零刀缝参数。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本页描述现有矩形业务闭环与项目目标流程。异形方案接入同一任务、报工和库存链路属于实施工作，不应以独立异形预览证明已完成。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排料结果与业务报工口径分开。图纸、明细与工单可在对应工作流使用，异形输出暂不含已认证的机床走刀程序。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能力范围截至2026年10月15日。本方案仅以业务语言描述，不披露底层技术、客户身份或项目标识。当前单次异形排料处理一个材料区，不宣称多材料联合分配已交付。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试用时确认材料、需求、工艺、质量要求与统计分母。示意纸样和本次预览不能替代实际生产验证。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9a6f3f5c92411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d2386db82b4f4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e07ca0eb15408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bac30b41db40d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642efb0696481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206c997e394f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3D5DD8-F1AF-4A20-9B8B-E344FE27E3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2CC8C82-DB77-4098-8A95-2E9413FE958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035B982-A51E-4525-A786-4154AA8B13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7A45F9-9A7C-4F09-9ED4-039F5C8D16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41DC4D1-EDED-415D-B470-5C5C568122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AC9E323-B9B5-40FC-AB45-E43069865B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FF82ED5-A70A-4D50-82DF-FF8389B48C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96FA1BD-9586-4FAD-90EB-25E3344A38B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701583-420E-4212-BA87-9046D9CFE2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2C0BA31-A76B-437D-88F1-B07AE0712A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fb55b8065c4448" /><Relationship Type="http://schemas.openxmlformats.org/officeDocument/2006/relationships/slideLayout" Target="/ppt/slideLayouts/slideLayout1.xml" Id="R7740f160a40c408f" /><Relationship Type="http://schemas.openxmlformats.org/officeDocument/2006/relationships/slideLayout" Target="/ppt/slideLayouts/slideLayout2.xml" Id="Re5af0a110de046f0" /><Relationship Type="http://schemas.openxmlformats.org/officeDocument/2006/relationships/slideLayout" Target="/ppt/slideLayouts/slideLayout3.xml" Id="R149e125595fe41ee" /><Relationship Type="http://schemas.openxmlformats.org/officeDocument/2006/relationships/slideLayout" Target="/ppt/slideLayouts/slideLayout4.xml" Id="Rfdb49593253e4b09" /><Relationship Type="http://schemas.openxmlformats.org/officeDocument/2006/relationships/slideLayout" Target="/ppt/slideLayouts/slideLayout5.xml" Id="Rc45e88773ecd4068" /><Relationship Type="http://schemas.openxmlformats.org/officeDocument/2006/relationships/slideLayout" Target="/ppt/slideLayouts/slideLayout6.xml" Id="R13772f3be3954a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40f160a40c408f"/>
    <p:sldLayoutId xmlns:r="http://schemas.openxmlformats.org/officeDocument/2006/relationships" id="2147483650" r:id="Re5af0a110de046f0"/>
    <p:sldLayoutId xmlns:r="http://schemas.openxmlformats.org/officeDocument/2006/relationships" id="2147483651" r:id="R149e125595fe41ee"/>
    <p:sldLayoutId xmlns:r="http://schemas.openxmlformats.org/officeDocument/2006/relationships" id="2147483652" r:id="Rfdb49593253e4b09"/>
    <p:sldLayoutId xmlns:r="http://schemas.openxmlformats.org/officeDocument/2006/relationships" id="2147483653" r:id="Rc45e88773ecd4068"/>
    <p:sldLayoutId xmlns:r="http://schemas.openxmlformats.org/officeDocument/2006/relationships" id="2147483654" r:id="R13772f3be3954a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375c5e51d4494b" /><Relationship Type="http://schemas.openxmlformats.org/officeDocument/2006/relationships/image" Target="/ppt/media/image.png" Id="Rcd4a885273ad4241" /><Relationship Type="http://schemas.openxmlformats.org/officeDocument/2006/relationships/notesSlide" Target="/ppt/notesSlides/notesSlide1.xml" Id="R16337487bf0441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ad648422c64129" /><Relationship Type="http://schemas.openxmlformats.org/officeDocument/2006/relationships/notesSlide" Target="/ppt/notesSlides/notesSlide2.xml" Id="R39559423ba094a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c2f337fb4d4537" /><Relationship Type="http://schemas.openxmlformats.org/officeDocument/2006/relationships/notesSlide" Target="/ppt/notesSlides/notesSlide3.xml" Id="R897e54a308fe48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25dc17e8264d88" /><Relationship Type="http://schemas.openxmlformats.org/officeDocument/2006/relationships/notesSlide" Target="/ppt/notesSlides/notesSlide4.xml" Id="R0cd404c1776a47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13373da9124483" /><Relationship Type="http://schemas.openxmlformats.org/officeDocument/2006/relationships/notesSlide" Target="/ppt/notesSlides/notesSlide5.xml" Id="R59e624178f5241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b291e78272434c" /><Relationship Type="http://schemas.openxmlformats.org/officeDocument/2006/relationships/image" Target="/ppt/media/image2.png" Id="Rfb466dc7ffd74e17" /><Relationship Type="http://schemas.openxmlformats.org/officeDocument/2006/relationships/notesSlide" Target="/ppt/notesSlides/notesSlide6.xml" Id="R6864f959648147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be2eca7168425d" /><Relationship Type="http://schemas.openxmlformats.org/officeDocument/2006/relationships/image" Target="/ppt/media/image3.png" Id="R071e6a3fe08b46e0" /><Relationship Type="http://schemas.openxmlformats.org/officeDocument/2006/relationships/notesSlide" Target="/ppt/notesSlides/notesSlide7.xml" Id="R1e53986aa4aa4c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4becc6440048df" /><Relationship Type="http://schemas.openxmlformats.org/officeDocument/2006/relationships/image" Target="/ppt/media/image4.png" Id="R3ce425086cad4b37" /><Relationship Type="http://schemas.openxmlformats.org/officeDocument/2006/relationships/notesSlide" Target="/ppt/notesSlides/notesSlide8.xml" Id="R355f23991d9a4b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24ce6c56994c47" /><Relationship Type="http://schemas.openxmlformats.org/officeDocument/2006/relationships/image" Target="/ppt/media/image5.png" Id="Rff3ba2db62424f2c" /><Relationship Type="http://schemas.openxmlformats.org/officeDocument/2006/relationships/notesSlide" Target="/ppt/notesSlides/notesSlide9.xml" Id="R14a9b54248f14f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28f018801d4244" /><Relationship Type="http://schemas.openxmlformats.org/officeDocument/2006/relationships/image" Target="/ppt/media/image6.png" Id="Rb92206273648483f" /><Relationship Type="http://schemas.openxmlformats.org/officeDocument/2006/relationships/notesSlide" Target="/ppt/notesSlides/notesSlide10.xml" Id="Ra26d16bcbd8c452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0d5eaafc2744e2" /><Relationship Type="http://schemas.openxmlformats.org/officeDocument/2006/relationships/notesSlide" Target="/ppt/notesSlides/notesSlide11.xml" Id="Rd3fccf65ebb7424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4f9897f76f412d" /><Relationship Type="http://schemas.openxmlformats.org/officeDocument/2006/relationships/notesSlide" Target="/ppt/notesSlides/notesSlide12.xml" Id="R6b62175a9917439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62b304448f4bc3" /><Relationship Type="http://schemas.openxmlformats.org/officeDocument/2006/relationships/notesSlide" Target="/ppt/notesSlides/notesSlide13.xml" Id="R3acdc6ed53f341b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7a06420ed64429" /><Relationship Type="http://schemas.openxmlformats.org/officeDocument/2006/relationships/notesSlide" Target="/ppt/notesSlides/notesSlide14.xml" Id="R8d859ff8d76941a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7c350071574e37" /><Relationship Type="http://schemas.openxmlformats.org/officeDocument/2006/relationships/notesSlide" Target="/ppt/notesSlides/notesSlide15.xml" Id="R6419cea1a8234e6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6d293bb4a24bb3" /><Relationship Type="http://schemas.openxmlformats.org/officeDocument/2006/relationships/notesSlide" Target="/ppt/notesSlides/notesSlide16.xml" Id="R89cc6a203109403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fb214d34084a43" /><Relationship Type="http://schemas.openxmlformats.org/officeDocument/2006/relationships/notesSlide" Target="/ppt/notesSlides/notesSlide17.xml" Id="Rea0ccae82c3d4aa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52bb76f5354c91" /><Relationship Type="http://schemas.openxmlformats.org/officeDocument/2006/relationships/notesSlide" Target="/ppt/notesSlides/notesSlide18.xml" Id="R8584b3ddf0e948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B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622ACD-4362-45E6-9316-CE4C404936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4a885273ad424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2BA220DB-3B6E-4A07-8178-BC830544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90675"/>
            <a:ext cx="51054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服装与柔性材料</a:t>
            </a:r>
          </a:p>
          <a:p xmlns:a="http://schemas.openxmlformats.org/drawingml/2006/main">
            <a:pPr>
              <a:defRPr sz="3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智能裁切方案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885DAAC5-29CC-4196-8C9F-BC9A24C3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48075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C5DBD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C5DB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C5DBDB"/>
                </a:solidFill>
                <a:latin typeface="Microsoft YaHei"/>
                <a:ea typeface="Microsoft YaHei"/>
                <a:cs typeface="Microsoft YaHei"/>
              </a:rPr>
              <a:t>二维异形排料为核心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CAA9BAAE-50DD-4DC1-8358-E30B436F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38650"/>
            <a:ext cx="4572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D8E1E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D8E1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8E1E5"/>
                </a:solidFill>
                <a:latin typeface="Microsoft YaHei"/>
                <a:ea typeface="Microsoft YaHei"/>
                <a:cs typeface="Microsoft YaHei"/>
              </a:rPr>
              <a:t>幅宽搭切  /  板材与卷材</a:t>
            </a:r>
          </a:p>
          <a:p xmlns:a="http://schemas.openxmlformats.org/drawingml/2006/main">
            <a:pPr>
              <a:defRPr sz="1800" b="0">
                <a:solidFill>
                  <a:srgbClr val="D8E1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8E1E5"/>
                </a:solidFill>
                <a:latin typeface="Microsoft YaHei"/>
                <a:ea typeface="Microsoft YaHei"/>
                <a:cs typeface="Microsoft YaHei"/>
              </a:rPr>
              <a:t>疵点规避  /  料头利用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94E4A349-E094-445F-BB61-21CBDE81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436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8CAD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8CA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8CAD2"/>
                </a:solidFill>
                <a:latin typeface="Microsoft YaHei"/>
                <a:ea typeface="Microsoft YaHei"/>
                <a:cs typeface="Microsoft YaHei"/>
              </a:rPr>
              <a:t>场景交流版   2026.10</a:t>
            </a:r>
          </a:p>
        </p:txBody>
      </p:sp>
    </p:spTree>
    <p:extLst>
      <p:ext uri="{BB962C8B-B14F-4D97-AF65-F5344CB8AC3E}">
        <p14:creationId xmlns:p14="http://schemas.microsoft.com/office/powerpoint/2010/main" val="12371169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B6696A77-6C40-4A70-AEA9-BFCD8C08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rPr>
              <a:t>裁切场景全景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52C49E9-9C90-4144-960B-EC3D39A3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F5A66A4-B810-44B6-AA97-023BC463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23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一维关注幅宽组合，二维同时安排裁片的形状、位置和方向。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36351E-5005-4063-8975-97BF9EC7832A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4133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905250"/>
                <a:gridCol w="4781550"/>
              </a:tblGrid>
              <a:tr h="542925">
                <a:tc>
                  <a:txBody>
                    <a:bodyPr lIns="133350" tIns="133350" rIns="133350" bIns="1333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6"/>
                      </a:solidFill>
                      <a:prstDash val="solid"/>
                    </a:lnL>
                    <a:lnR w="9525">
                      <a:solidFill>
                        <a:srgbClr val="DCE4E6"/>
                      </a:solidFill>
                      <a:prstDash val="solid"/>
                    </a:lnR>
                    <a:lnT w="9525">
                      <a:solidFill>
                        <a:srgbClr val="DCE4E6"/>
                      </a:solidFill>
                      <a:prstDash val="solid"/>
                    </a:lnT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152B3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服装领域举例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T w="9525">
                      <a:solidFill>
                        <a:srgbClr val="DCE4E6"/>
                      </a:solidFill>
                      <a:prstDash val="solid"/>
                    </a:lnT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152B3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主要安排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T w="9525">
                      <a:solidFill>
                        <a:srgbClr val="DCE4E6"/>
                      </a:solidFill>
                      <a:prstDash val="solid"/>
                    </a:lnT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152B3B"/>
                    </a:solidFill>
                  </a:tcPr>
                </a:tc>
              </a:tr>
              <a:tr h="718185"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一维幅宽搭切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6"/>
                      </a:solidFill>
                      <a:prstDash val="solid"/>
                    </a:lnL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面料、衬料分条，条带用料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组合宽度、执行次数、订单数量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8185"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二维规则裁片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6"/>
                      </a:solidFill>
                      <a:prstDash val="solid"/>
                    </a:lnL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矩形衬片、垫片、条形辅料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宽长搭配、旋转许可、贯通切割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</a:tr>
              <a:tr h="718185"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二维异形裁片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6"/>
                      </a:solidFill>
                      <a:prstDash val="solid"/>
                    </a:lnL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衣身、袖片、裤片、裙片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真实轮廓、方向限制、疵点禁放区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8185"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板材 / 片材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6"/>
                      </a:solidFill>
                      <a:prstDash val="solid"/>
                    </a:lnL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片状衬材、定尺材料、已分离料块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整块边界内排料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</a:tr>
              <a:tr h="718185"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卷材与料头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6"/>
                      </a:solidFill>
                      <a:prstDash val="solid"/>
                    </a:lnL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分段铺布、短料补单、余料复用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加工区、剩余需求、实际耗用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1699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F755010E-E46B-49A6-8EB0-8A9EAF44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rPr>
              <a:t>一维幅宽搭切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B4C3A96-1C1C-4AAF-9F5C-D62A6BA1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E09FD2C-D8AA-4BAE-BDF3-39D2C4F8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23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一维搭切按幅宽组合多条需求。整幅横切定长是另一种加工操作。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6DAE468-6C54-4A72-90A1-19C05D31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业务输入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1D902FF-D308-46E2-8254-6985FC50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成品宽度、数量、长度与</a:t>
            </a:r>
          </a:p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可共同加工的工艺条件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F3E3F15-19DE-4062-8A6C-A044C8FB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材料条件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EB69C50-6742-416E-BF11-D468162D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实际母材幅宽、允许加工幅宽</a:t>
            </a:r>
          </a:p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以及经确认的边部损耗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74ECAF6-3DEC-4861-938E-D7DFBD86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66875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业务输出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4FB1708-7E84-45F4-AA3F-20CBA954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7645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每组宽度组合与执行次数</a:t>
            </a:r>
          </a:p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对应订单的分配和完成数量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FE7B0F24-28A5-46B5-9BA7-92432793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57525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服装领域应用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C085C3B3-8DFC-429D-B4B9-20A97A57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6710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卷材分条、衬料及条带类用料</a:t>
            </a:r>
          </a:p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按材料和工艺要求分组处理</a:t>
            </a:r>
          </a:p>
        </p:txBody>
      </p:sp>
    </p:spTree>
    <p:extLst>
      <p:ext uri="{BB962C8B-B14F-4D97-AF65-F5344CB8AC3E}">
        <p14:creationId xmlns:p14="http://schemas.microsoft.com/office/powerpoint/2010/main" val="9095034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11E3BD6F-E6B7-4F29-8DCB-31684D15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rPr>
              <a:t>搭切方案需要同时满足订单数量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E57E9F3-9795-403F-873A-B00EE361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3D596EB-A513-4342-A633-407AC49F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23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教学示例：同一材料与长度组，不计刀缝及额外修边，不代表实测收益。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7A4E947-A180-426F-B6A1-AB76CA2B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原料幅宽 1600 mm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4E3C3-E99A-44E0-AAFD-771A9E85D872}"/>
              </a:ext>
            </a:extLst>
          </p:cNvPr>
          <p:cNvGraphicFramePr/>
          <p:nvPr/>
        </p:nvGraphicFramePr>
        <p:xfrm>
          <a:off xmlns:a="http://schemas.openxmlformats.org/drawingml/2006/main" x="609600" y="2171700"/>
          <a:ext xmlns:a="http://schemas.openxmlformats.org/drawingml/2006/main" cx="109728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4286250"/>
                <a:gridCol w="2305050"/>
              </a:tblGrid>
              <a:tr h="542925">
                <a:tc>
                  <a:txBody>
                    <a:bodyPr lIns="133350" tIns="133350" rIns="133350" bIns="1333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宽度组合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6"/>
                      </a:solidFill>
                      <a:prstDash val="solid"/>
                    </a:lnL>
                    <a:lnR w="9525">
                      <a:solidFill>
                        <a:srgbClr val="DCE4E6"/>
                      </a:solidFill>
                      <a:prstDash val="solid"/>
                    </a:lnR>
                    <a:lnT w="9525">
                      <a:solidFill>
                        <a:srgbClr val="DCE4E6"/>
                      </a:solidFill>
                      <a:prstDash val="solid"/>
                    </a:lnT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152B3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每次产出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T w="9525">
                      <a:solidFill>
                        <a:srgbClr val="DCE4E6"/>
                      </a:solidFill>
                      <a:prstDash val="solid"/>
                    </a:lnT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152B3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剩余宽度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T w="9525">
                      <a:solidFill>
                        <a:srgbClr val="DCE4E6"/>
                      </a:solidFill>
                      <a:prstDash val="solid"/>
                    </a:lnT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152B3B"/>
                    </a:solidFill>
                  </a:tcPr>
                </a:tc>
              </a:tr>
              <a:tr h="823913">
                <a:tc>
                  <a:txBody>
                    <a:bodyPr lIns="133350" tIns="133350" rIns="133350" bIns="133350"/>
                    <a:lstStyle/>
                    <a:p>
                      <a:r>
                        <a:rPr sz="187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 + 500 + 400 mm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6"/>
                      </a:solidFill>
                      <a:prstDash val="solid"/>
                    </a:lnL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7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三种规格各 1 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7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 mm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3913">
                <a:tc>
                  <a:txBody>
                    <a:bodyPr lIns="133350" tIns="133350" rIns="133350" bIns="133350"/>
                    <a:lstStyle/>
                    <a:p>
                      <a:r>
                        <a:rPr sz="187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 + 600 + 400 mm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6"/>
                      </a:solidFill>
                      <a:prstDash val="solid"/>
                    </a:lnL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7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 mm 两条、400 mm 一条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7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mm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46D4B545-A2EC-40C7-9DBE-7F3279A1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rPr>
              <a:t>如果三种规格各需 2 条，第一种组合执行 2 次即可满足。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5951D665-C930-4851-8384-96828C69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单次余边最小的组合，仍需与其他组合配合，才能覆盖全部需求。</a:t>
            </a:r>
          </a:p>
        </p:txBody>
      </p:sp>
    </p:spTree>
    <p:extLst>
      <p:ext uri="{BB962C8B-B14F-4D97-AF65-F5344CB8AC3E}">
        <p14:creationId xmlns:p14="http://schemas.microsoft.com/office/powerpoint/2010/main" val="15880383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520264EC-7E20-44EB-AEA8-A31837E7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rPr>
              <a:t>二维排料：按裁片与设备选择方式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46CE779-C830-4CB4-B61E-093B5C67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59DCCA3-1E4F-40F2-820E-555C9737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23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当前异形排料支持简单闭合多边形。服装曲边示例采用折线近似。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8A13FE5-9F28-4C56-A092-FFF650D6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规则图形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4D486BA-37D1-4AF6-B063-DD9CF975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矩形、条形裁片</a:t>
            </a:r>
          </a:p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按尺寸和数量组合安排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BE775D7-E138-4A7E-B44F-10F11E5D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贯通裁切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0BC0DBB-D86E-486A-9D69-1D31A9F4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根据设备允许的横切、纵切</a:t>
            </a:r>
          </a:p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安排可逐步分开的矩形布局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B55B780-295D-44A6-9C2E-BDAD9922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66875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不规则图形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91FAC7C-EF83-4014-9E12-A5C74453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7645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衣身、袖片与裤片等轮廓</a:t>
            </a:r>
          </a:p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按实际轮廓避让和组合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244D8864-C9DE-4CB9-A81A-C19ED5D9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57525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轮廓裁切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BDA07DF4-7C3E-4AAF-9360-537D1159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6710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提供裁片位置与闭合边界</a:t>
            </a:r>
          </a:p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设备刀路需按裁床工艺适配</a:t>
            </a:r>
          </a:p>
        </p:txBody>
      </p:sp>
    </p:spTree>
    <p:extLst>
      <p:ext uri="{BB962C8B-B14F-4D97-AF65-F5344CB8AC3E}">
        <p14:creationId xmlns:p14="http://schemas.microsoft.com/office/powerpoint/2010/main" val="1459760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BDEE24FB-F732-4F54-B385-4B3EA5E1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rPr>
              <a:t>上衣裁片：衣身与袖片组合排料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FCDC3A2-AD20-4B82-9EE5-98CEAE8C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EC02B1D-0960-46F6-9727-6C37E10F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23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匿名示例纸样，固定方向。图为程序生成的排料预览，不是生产纸样。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B9A29E8-0D6B-4590-81F3-DC94A2DE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1B0591C-B2FC-4D0C-B712-138A87D4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前片 1 件、后片 1 件</a:t>
            </a:r>
          </a:p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袖片 2 件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AB7928F-F198-4FA5-91AB-7FA151CD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本次结果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FB71A15-CA22-4B70-923D-60565C6B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4 件全部排入</a:t>
            </a:r>
          </a:p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保留衣身和袖片的轮廓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622F530-AE86-40D5-8E5B-FBBB3D96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现场核对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6666F71-2BB8-4E90-94CE-309861D7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丝缕方向、裁剪尺寸</a:t>
            </a:r>
          </a:p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缝份与面料正反面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06F5E3-DF0A-4B89-A1FA-57F4B890DB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466dc7ffd74e17"/>
          <a:srcRect xmlns:a="http://schemas.openxmlformats.org/drawingml/2006/main" l="26000" t="10000" r="12000" b="12000"/>
          <a:stretch xmlns:a="http://schemas.openxmlformats.org/drawingml/2006/main"/>
        </p:blipFill>
        <p:spPr>
          <a:xfrm xmlns:a="http://schemas.openxmlformats.org/drawingml/2006/main">
            <a:off x="5667375" y="1476375"/>
            <a:ext cx="5905500" cy="42576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0184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915D9B18-4149-4FA8-B495-A47730B2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rPr>
              <a:t>裤装裁片：长片与小片共同安排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3EBA2AB-BE55-472A-A2A2-EF49111C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9C545C4-1112-4804-BEE4-1AB4D28A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23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匿名示例纸样，固定方向。裤片配对、左右片及号型齐套规则需按项目约定。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F2F5EFF-6D99-4902-B1E3-3201CC36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5E933CB-5716-4EA3-B6B5-15EA6F35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前裤片 2 件、后裤片 2 件</a:t>
            </a:r>
          </a:p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裤袋 2 件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9BFF33E-F7A1-4246-A65A-7AD45301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本次结果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220BD4E-D153-49B9-AAFA-B25CA3FC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6 件全部排入</a:t>
            </a:r>
          </a:p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按轮廓与方向安排位置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862B58F-4C20-455D-9FAB-B5E12BD8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场景价值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BCA3936-7B9C-42E2-9D00-9768B37A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长片与小片共同规划</a:t>
            </a:r>
          </a:p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剩余空区保留真实形状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4154F-DA8A-4704-A8C7-A8B8CB70B8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1e6a3fe08b46e0"/>
          <a:srcRect xmlns:a="http://schemas.openxmlformats.org/drawingml/2006/main" l="26000" t="10000" r="12000" b="12000"/>
          <a:stretch xmlns:a="http://schemas.openxmlformats.org/drawingml/2006/main"/>
        </p:blipFill>
        <p:spPr>
          <a:xfrm xmlns:a="http://schemas.openxmlformats.org/drawingml/2006/main">
            <a:off x="5667375" y="1476375"/>
            <a:ext cx="5905500" cy="42576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647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EDDBBF84-36F3-4329-8B0C-BEB8C83C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rPr>
              <a:t>裙片排料：未排需求继续保留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3C533AD-B5EF-4937-B2A1-35A333F2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43D0F5B-D29A-4392-A424-06F707F3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23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匿名示例纸样。本次未排入不等于无法排入，可调整加工区或安排下一块材料。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A767A30-1240-43D5-B704-2D7DB930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C7AC2ED-1DC1-47C1-947F-46CBE1E3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半裙裁片 4 件</a:t>
            </a:r>
          </a:p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贴袋 2 件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2BE0456-4B39-4AC8-953F-37BB39BF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本次结果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B080DE3-4DE9-4A66-987E-DE46F17A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共排入 5 件</a:t>
            </a:r>
          </a:p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剩余 1 件需求待安排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EC6C8EA-D699-463D-B8F4-ABC6593D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作业处理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5D63F2B-54F3-4C8A-817E-1947F476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核对具体未排项目</a:t>
            </a:r>
          </a:p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复核下一块材料与补裁安排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40A1C-E2A8-4276-B4EE-0A5D47C327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e425086cad4b37"/>
          <a:srcRect xmlns:a="http://schemas.openxmlformats.org/drawingml/2006/main" l="26000" t="10000" r="12000" b="12000"/>
          <a:stretch xmlns:a="http://schemas.openxmlformats.org/drawingml/2006/main"/>
        </p:blipFill>
        <p:spPr>
          <a:xfrm xmlns:a="http://schemas.openxmlformats.org/drawingml/2006/main">
            <a:off x="5667375" y="1476375"/>
            <a:ext cx="5905500" cy="42576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4375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73F35E2B-0124-48B3-9924-EE800D47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rPr>
              <a:t>规则裁片与疵点避让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F1DECB3-0E55-416F-9976-4FF922C4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093CF44-C02D-4951-966B-B4A2F8F6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23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红色区域为禁放区。候选余料需经实物分离、实测和确认后才能入库。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9821DF7-6F43-40D2-9B7B-4ACFC214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适用对象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722E93B-71AD-4F5C-91E5-2226BE58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矩形衬片、条形裁片</a:t>
            </a:r>
          </a:p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定尺辅料与规则料块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864629E-994A-4F7B-AB0F-3EF2DD38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安排方式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4EA2C0E-505D-4F07-9CDC-163B3E1A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在允许加工区域内放置</a:t>
            </a:r>
          </a:p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避开疵点及保护范围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395A4B2-4DF6-48B4-81FC-B9B87DBF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结果用途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9488C95E-0D2D-4001-B45D-5C9824CA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查看裁片和矩形候选余料</a:t>
            </a:r>
          </a:p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核对纵横切割步骤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3E8EE5-196B-4109-BA57-0A8C388B42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3ba2db62424f2c"/>
          <a:srcRect xmlns:a="http://schemas.openxmlformats.org/drawingml/2006/main" l="26000" t="10000" r="12000" b="12000"/>
          <a:stretch xmlns:a="http://schemas.openxmlformats.org/drawingml/2006/main"/>
        </p:blipFill>
        <p:spPr>
          <a:xfrm xmlns:a="http://schemas.openxmlformats.org/drawingml/2006/main">
            <a:off x="5667375" y="1476375"/>
            <a:ext cx="5905500" cy="42576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9375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8555BE0D-6C3D-41CF-83DC-5156969C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rPr>
              <a:t>异形边界与局部疵点规避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3D0749C-B756-4F09-9ACD-655F7F6D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5EEC357-E200-4619-818F-CE216BE1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23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图中红色方块为禁放区，外侧轮廓为材料边界。剩余空区不能直接作为料头库存。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B365560-22DE-41C4-A283-54CD33B3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真实可用边界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CDD5D63-4E6E-478F-BC48-1623FF5C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整块材料可以是凹形轮廓</a:t>
            </a:r>
          </a:p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缺角部分不计为可用材料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05F2D00-23AE-41AF-9EE9-5D23D596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局部避让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5223A15-E0C2-4A56-BCDF-77DCA980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把已确认的疵点设为禁放区</a:t>
            </a:r>
          </a:p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保留周边可用部分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8546DC9-16CF-4BE8-8004-320CE388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保护范围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2E0C1B64-B407-44C1-AD89-F1072B1B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矩形疵点可增加保护距离</a:t>
            </a:r>
          </a:p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异形疵点需提供完整保护轮廓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46FDAF-AEE4-457B-85B1-58CC6D28EE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2206273648483f"/>
          <a:srcRect xmlns:a="http://schemas.openxmlformats.org/drawingml/2006/main" l="26000" t="10000" r="12000" b="12000"/>
          <a:stretch xmlns:a="http://schemas.openxmlformats.org/drawingml/2006/main"/>
        </p:blipFill>
        <p:spPr>
          <a:xfrm xmlns:a="http://schemas.openxmlformats.org/drawingml/2006/main">
            <a:off x="5667375" y="1476375"/>
            <a:ext cx="5905500" cy="42576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6929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304B7EA1-A02C-49DA-8066-5277B0C4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rPr>
              <a:t>卷材切割与分段铺布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1EB31CB-3880-4750-96A9-AB317C32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595F08B-6899-4604-8452-38BABB54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23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当前异形排料按已确认的单块加工区使用，异形连续送料与跨工位执行需专项适配。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BF0013F-AA68-4ACC-9EE7-5309A1EB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01  确认本次加工区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82B9AE3-45B0-407F-896B-C1F07576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核对门幅、铺布长度、布头位置与疵点范围。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BDD5189-40F8-481E-A9E8-FE4A81A3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02  安排本段裁片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E0375A5-D575-4F68-8FEB-4B4E90AA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按剩余需求排料，保留未排数量与已经完成的结果。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E5BF2A9-E3E1-408A-BB96-BCD45ABF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03  确认实际裁切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EDB5602-1558-46E8-82A3-85CB8250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记录实际分离长度、合格产出和需要回收的材料。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9F10DAD3-3F00-48CB-A8EA-DA6B66C1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04  继续后续作业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DA1EC20B-27F3-426A-BAA8-0ADEDFAD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推进或重新铺布后复核基准，再安排下一加工区。</a:t>
            </a:r>
          </a:p>
        </p:txBody>
      </p:sp>
    </p:spTree>
    <p:extLst>
      <p:ext uri="{BB962C8B-B14F-4D97-AF65-F5344CB8AC3E}">
        <p14:creationId xmlns:p14="http://schemas.microsoft.com/office/powerpoint/2010/main" val="13687526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A2CAE074-E74B-42CB-8B13-DB9275E7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rPr>
              <a:t>板材、片材与不规则料块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286DF07-4BA5-49A1-AB44-F31BDDC2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2EEA1DE-C6A2-47DD-9319-530E449B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23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排料前确认实际材料边界。硬质板材还需单独核对夹持、刀缝与切割设备。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5D1DDE6-B209-4F62-B600-F217089B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整块材料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4BE350F-77A4-425E-8F7B-C717D86D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片状衬材、定尺垫材</a:t>
            </a:r>
          </a:p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已分离并确认尺寸的料块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66058E9-A3C5-4C17-9324-EDF6D363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规则边界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9FA21E4-85CE-4F67-A634-6D995648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输入整块宽度与长度</a:t>
            </a:r>
          </a:p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明确禁放区和裁片方向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069DE96-E93E-4C13-BB4A-8D804962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66875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不规则边界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60DC744-FB51-4700-918E-45D4992B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7645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缺角、凹形轮廓按实物记录</a:t>
            </a:r>
          </a:p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不得把外接矩形全算作好料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367C7BC4-49D3-4303-9F70-03FE9E66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57525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服装应用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BA5D0BB4-D038-4743-9077-69462623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6710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补裁小片、口袋、衬片等</a:t>
            </a:r>
          </a:p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先核对材质、批次和质量</a:t>
            </a:r>
          </a:p>
        </p:txBody>
      </p:sp>
    </p:spTree>
    <p:extLst>
      <p:ext uri="{BB962C8B-B14F-4D97-AF65-F5344CB8AC3E}">
        <p14:creationId xmlns:p14="http://schemas.microsoft.com/office/powerpoint/2010/main" val="2678003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8A18ED6F-B3CF-4EC0-9B63-9113B064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rPr>
              <a:t>料头利用：回收之后继续匹配需求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785BF31-CFCA-49FC-906B-27A4687C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361BE5B-5717-4FE6-B8C5-CB4B6E4B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23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当前矩形料头已有库存复用流程。异形残余的自动识别、拆分与入库仍需扩展。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678FAF9-3D1F-4055-BC17-759D29F5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实物确认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C896943-198B-4370-ABC5-24A26A39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裁切完成后分离余料，量尺、检查疵点并确认可用边界。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A766EBB-69E7-4EC0-AC3D-2C08DDE1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登记入库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9B6778F-B023-4280-A805-214B19B3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记录唯一编号、尺寸、材料批次、质量、库位和来源。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A50F112-F743-49A0-927C-F79DB075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优先匹配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212FDEF-E4C8-40B6-9619-A1BA05FC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按待完成需求查找可用料头，复核方向、尺寸和疵点。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EB3C628D-38A0-46B6-BB94-1716F057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复用报工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50F433FD-5C24-468E-B310-5799F3FE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消耗原料头，确认子料头并保留来源，母卷不重复扣料。</a:t>
            </a:r>
          </a:p>
        </p:txBody>
      </p:sp>
    </p:spTree>
    <p:extLst>
      <p:ext uri="{BB962C8B-B14F-4D97-AF65-F5344CB8AC3E}">
        <p14:creationId xmlns:p14="http://schemas.microsoft.com/office/powerpoint/2010/main" val="2190281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A690924B-E323-495F-AB39-0056A985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rPr>
              <a:t>服装工艺条件决定方案能否使用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9D390C5-C06B-4553-AFE1-15D3F79F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532558E-972B-4F77-9601-9EA683F2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23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当前支持固定方向或按许可进行直角旋转，复杂服装规则需单独确认。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DEB3E4-7187-4FE6-9AF0-720CDDC4CB98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381500"/>
                <a:gridCol w="4400550"/>
              </a:tblGrid>
              <a:tr h="542925">
                <a:tc>
                  <a:txBody>
                    <a:bodyPr lIns="133350" tIns="133350" rIns="133350" bIns="1333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6"/>
                      </a:solidFill>
                      <a:prstDash val="solid"/>
                    </a:lnL>
                    <a:lnR w="9525">
                      <a:solidFill>
                        <a:srgbClr val="DCE4E6"/>
                      </a:solidFill>
                      <a:prstDash val="solid"/>
                    </a:lnR>
                    <a:lnT w="9525">
                      <a:solidFill>
                        <a:srgbClr val="DCE4E6"/>
                      </a:solidFill>
                      <a:prstDash val="solid"/>
                    </a:lnT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152B3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本次排料如何使用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T w="9525">
                      <a:solidFill>
                        <a:srgbClr val="DCE4E6"/>
                      </a:solidFill>
                      <a:prstDash val="solid"/>
                    </a:lnT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152B3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实施时需要确认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T w="9525">
                      <a:solidFill>
                        <a:srgbClr val="DCE4E6"/>
                      </a:solidFill>
                      <a:prstDash val="solid"/>
                    </a:lnT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152B3B"/>
                    </a:solidFill>
                  </a:tcPr>
                </a:tc>
              </a:tr>
              <a:tr h="725805"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丝缕与方向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6"/>
                      </a:solidFill>
                      <a:prstDash val="solid"/>
                    </a:lnL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固定方向，或允许直角旋转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顺毛、倒顺光、正反面规则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5805"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裁片形状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6"/>
                      </a:solidFill>
                      <a:prstDash val="solid"/>
                    </a:lnL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使用已提供的闭合轮廓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生产纸样、曲线精度与缝份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</a:tr>
              <a:tr h="725805"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成套与号型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6"/>
                      </a:solidFill>
                      <a:prstDash val="solid"/>
                    </a:lnL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按给定的裁片数量安排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尺码配比、左右片与成套规则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5805"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条格与色差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6"/>
                      </a:solidFill>
                      <a:prstDash val="solid"/>
                    </a:lnL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按确认的可用区和禁放区处理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对条对格、花位与色差分区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</a:tr>
              <a:tr h="725805"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裁床工艺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6"/>
                      </a:solidFill>
                      <a:prstDash val="solid"/>
                    </a:lnL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核对图形位置和加工区范围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铺层、夹持、间隙及设备刀路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59872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216DD487-5E9E-4264-AC13-BEF8C2B6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rPr>
              <a:t>实际报工连接需求与材料台账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7797E48-59AA-433B-8DA4-428E5B23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AA816E7-BAC1-48AC-9315-10AEFCD3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23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预览和保存方案不等于实际裁切。母卷按实际分离长度扣料，料头复用不重复扣母卷。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FC087BF-2A92-442F-9E3E-B01E5CBB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裁切前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99F5C6C-F542-4D9D-B105-454B5C99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录入需求并选择材料</a:t>
            </a:r>
          </a:p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确认本次范围、方向和疵点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C0E6E97-185A-49C6-B752-84E329B9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裁切中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E0311A3-C3FB-4CC9-A159-CAC2CF4F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按已确认方案执行</a:t>
            </a:r>
          </a:p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异常、少裁和未排需求继续保留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4C77F2C-AEDE-468C-A3B0-1A1F6578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66875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裁切后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99E6B8D-FBB5-4FC6-999D-04BD8B90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7645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核对实际合格数量</a:t>
            </a:r>
          </a:p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实际耗用与可回收材料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A120C4F6-8A8B-43DE-8A47-E70EDD2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57525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继续生产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1151C0AC-E05E-44E6-B0EC-04BF90B9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6710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更新剩余需求与材料台账</a:t>
            </a:r>
          </a:p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匹配料头或安排下一个加工区</a:t>
            </a:r>
          </a:p>
        </p:txBody>
      </p:sp>
    </p:spTree>
    <p:extLst>
      <p:ext uri="{BB962C8B-B14F-4D97-AF65-F5344CB8AC3E}">
        <p14:creationId xmlns:p14="http://schemas.microsoft.com/office/powerpoint/2010/main" val="13110829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A47443B4-3044-4CE3-B3B3-47127261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rPr>
              <a:t>交付给现场的业务结果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69AC15B-B482-4E2A-BBC2-AC553D84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50BC745-7541-4673-854E-051FD3BE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23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异形方案当前提供排料图与裁片边界，机床执行文件需经专项适配及现场验证。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0801528-4F89-486E-8C5F-6CC6CA17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排料方案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9739C99-F85B-4167-AB6D-88E1FE5D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每件裁片的位置、方向和数量</a:t>
            </a:r>
          </a:p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材料边界与疵点避让范围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42938E1-9ED8-42F4-9F14-E0BC191F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需求核对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DA7296E-D153-432A-93CC-42634EE4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本次已排数量与未排数量</a:t>
            </a:r>
          </a:p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实际报工后的剩余需求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3FD6C9B-FBAB-442B-848F-BA2DAB61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66875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材料记录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5317588-689F-4100-B145-6A64DF1E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7645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本次实际耗用</a:t>
            </a:r>
          </a:p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已确认料头与后续可用库存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B3703326-5C5C-4B61-A027-68F61600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57525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作业资料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B4882A19-93D4-409A-BCEC-EF0995C2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6710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图纸、明细与操作依据</a:t>
            </a:r>
          </a:p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矩形切割步骤及现场核对项</a:t>
            </a:r>
          </a:p>
        </p:txBody>
      </p:sp>
    </p:spTree>
    <p:extLst>
      <p:ext uri="{BB962C8B-B14F-4D97-AF65-F5344CB8AC3E}">
        <p14:creationId xmlns:p14="http://schemas.microsoft.com/office/powerpoint/2010/main" val="170795644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63FC5CB8-97F5-48AE-AC0F-0F4D282F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rPr>
              <a:t>当前基础与项目实施范围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ACFB072-2AEB-462D-B145-D544C9EB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6C191BB-5F29-4C43-9075-2A133D4D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23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实施范围按材料样本、裁床工艺和业务流程确认，不预设节料率或实际加工精度。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CA0EF-6876-4C3B-83F0-7EA38538D6BA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238625"/>
                <a:gridCol w="4352925"/>
              </a:tblGrid>
              <a:tr h="542925">
                <a:tc>
                  <a:txBody>
                    <a:bodyPr lIns="133350" tIns="133350" rIns="133350" bIns="1333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能力方向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6"/>
                      </a:solidFill>
                      <a:prstDash val="solid"/>
                    </a:lnL>
                    <a:lnR w="9525">
                      <a:solidFill>
                        <a:srgbClr val="DCE4E6"/>
                      </a:solidFill>
                      <a:prstDash val="solid"/>
                    </a:lnR>
                    <a:lnT w="9525">
                      <a:solidFill>
                        <a:srgbClr val="DCE4E6"/>
                      </a:solidFill>
                      <a:prstDash val="solid"/>
                    </a:lnT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152B3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当前基础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T w="9525">
                      <a:solidFill>
                        <a:srgbClr val="DCE4E6"/>
                      </a:solidFill>
                      <a:prstDash val="solid"/>
                    </a:lnT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152B3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项目实施重点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T w="9525">
                      <a:solidFill>
                        <a:srgbClr val="DCE4E6"/>
                      </a:solidFill>
                      <a:prstDash val="solid"/>
                    </a:lnT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152B3B"/>
                    </a:solidFill>
                  </a:tcPr>
                </a:tc>
              </a:tr>
              <a:tr h="725805"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一维幅宽搭切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6"/>
                      </a:solidFill>
                      <a:prstDash val="solid"/>
                    </a:lnL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宽度组合、次数及需求分配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服装材料分组与作业指令衔接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5805"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二维规则排料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6"/>
                      </a:solidFill>
                      <a:prstDash val="solid"/>
                    </a:lnL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矩形排料、避疵与切割步骤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实际间隙、设备能力与样本验证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</a:tr>
              <a:tr h="725805"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二维异形排料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6"/>
                      </a:solidFill>
                      <a:prstDash val="solid"/>
                    </a:lnL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简单轮廓、方向与禁放区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生产纸样、服装规则及完整刀路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5805"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卷材作业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6"/>
                      </a:solidFill>
                      <a:prstDash val="solid"/>
                    </a:lnL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矩形工位接续与报工流程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异形连续送料及跨工位作业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</a:tr>
              <a:tr h="725805"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料头利用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6"/>
                      </a:solidFill>
                      <a:prstDash val="solid"/>
                    </a:lnL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矩形料头建档、匹配和复用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异形余料回收与业务流程衔接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70233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3A69686E-E213-4E35-B350-61C82084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rPr>
              <a:t>用一组真实材料验证完整作业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19F3D00-8041-4923-A397-E2F48107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414468C-CB1C-4210-AF5C-F3F0A2B4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23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评价口径一致后，再比较材料消耗、合格产出、料头复用与操作时间。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B0E28C7-9AFB-499E-B295-A06C7BEA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试用样本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0B11C33-A770-4CA7-B31F-AFB3A032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一组幅宽搭切需求、一套服装裁片、带疵材料与可复用料头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6A7FD70-1561-446E-A3AD-7C35D2D0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现场验证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A12AF30-1C6F-452C-880B-2DA778D0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核对纸样与工艺，生成方案，执行裁切，记录耗用并复用料头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C50509F-4980-4B7A-B1B3-B2D92B95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验收依据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93C83118-6C22-498B-AA38-85C0713F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同一材料、同一需求、同一质量标准下的实际作业记录</a:t>
            </a:r>
          </a:p>
        </p:txBody>
      </p:sp>
    </p:spTree>
    <p:extLst>
      <p:ext uri="{BB962C8B-B14F-4D97-AF65-F5344CB8AC3E}">
        <p14:creationId xmlns:p14="http://schemas.microsoft.com/office/powerpoint/2010/main" val="7597492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Presentation</ap:Application>
  <ap:PresentationFormat>宽屏</ap:PresentationFormat>
  <ap:Slides>18</ap:Slides>
  <ap:Notes>18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/>
  <lastModifiedBy/>
  <dc:title>服装与柔性材料智能裁切方案</dc:title>
  <dcterms:created xsi:type="dcterms:W3CDTF">2026-10-15T03:16:06.3280000Z</dcterms:created>
  <dcterms:modified xsi:type="dcterms:W3CDTF">2026-10-15T03:16:06.3280000Z</dcterms:modified>
</coreProperties>
</file>