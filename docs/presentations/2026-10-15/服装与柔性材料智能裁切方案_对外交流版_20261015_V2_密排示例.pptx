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8bda1fc0674060" /><Relationship Type="http://schemas.openxmlformats.org/officeDocument/2006/relationships/extended-properties" Target="/docProps/app.xml" Id="R63abdc8e00a2466b" /><Relationship Type="http://schemas.openxmlformats.org/officeDocument/2006/relationships/officeDocument" Target="/ppt/presentation.xml" Id="Re43e38b53fa3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72c6f779c45e0"/>
  </p:sldMasterIdLst>
  <p:notesMasterIdLst>
    <p:notesMasterId xmlns:r="http://schemas.openxmlformats.org/officeDocument/2006/relationships" r:id="Rfcccc32b604f4a89"/>
  </p:notesMasterIdLst>
  <p:sldIdLst>
    <p:sldId xmlns:r="http://schemas.openxmlformats.org/officeDocument/2006/relationships" id="256" r:id="R0451bfa1d9bf483f"/>
    <p:sldId xmlns:r="http://schemas.openxmlformats.org/officeDocument/2006/relationships" id="257" r:id="R9b2c570359da4d03"/>
    <p:sldId xmlns:r="http://schemas.openxmlformats.org/officeDocument/2006/relationships" id="258" r:id="R7badcddce71048d0"/>
    <p:sldId xmlns:r="http://schemas.openxmlformats.org/officeDocument/2006/relationships" id="259" r:id="R6ae3e45ebcfe49cb"/>
    <p:sldId xmlns:r="http://schemas.openxmlformats.org/officeDocument/2006/relationships" id="260" r:id="R66515ecd0339466f"/>
    <p:sldId xmlns:r="http://schemas.openxmlformats.org/officeDocument/2006/relationships" id="261" r:id="Rf9bb8b2205274dd7"/>
    <p:sldId xmlns:r="http://schemas.openxmlformats.org/officeDocument/2006/relationships" id="262" r:id="R9f28f8f8c2194b0a"/>
    <p:sldId xmlns:r="http://schemas.openxmlformats.org/officeDocument/2006/relationships" id="263" r:id="R2adec2dfc1174509"/>
    <p:sldId xmlns:r="http://schemas.openxmlformats.org/officeDocument/2006/relationships" id="264" r:id="Rfc36d7550d964c25"/>
    <p:sldId xmlns:r="http://schemas.openxmlformats.org/officeDocument/2006/relationships" id="265" r:id="R19bea3befc4e4cf4"/>
    <p:sldId xmlns:r="http://schemas.openxmlformats.org/officeDocument/2006/relationships" id="266" r:id="Rdae8c2f0a69e45c8"/>
    <p:sldId xmlns:r="http://schemas.openxmlformats.org/officeDocument/2006/relationships" id="267" r:id="Rd052d73ed77544c2"/>
    <p:sldId xmlns:r="http://schemas.openxmlformats.org/officeDocument/2006/relationships" id="268" r:id="Rfa99435d5cdb46ee"/>
    <p:sldId xmlns:r="http://schemas.openxmlformats.org/officeDocument/2006/relationships" id="269" r:id="R62aa74730983495a"/>
    <p:sldId xmlns:r="http://schemas.openxmlformats.org/officeDocument/2006/relationships" id="270" r:id="R1cc00697e4434566"/>
    <p:sldId xmlns:r="http://schemas.openxmlformats.org/officeDocument/2006/relationships" id="271" r:id="Rb14d9317fcaf4193"/>
    <p:sldId xmlns:r="http://schemas.openxmlformats.org/officeDocument/2006/relationships" id="272" r:id="R30b335b1dad842a4"/>
    <p:sldId xmlns:r="http://schemas.openxmlformats.org/officeDocument/2006/relationships" id="273" r:id="Rcacbe5c67a564a92"/>
    <p:sldId xmlns:r="http://schemas.openxmlformats.org/officeDocument/2006/relationships" id="274" r:id="R0ac2b41116894a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bf73e6ae87490e" /><Relationship Type="http://schemas.openxmlformats.org/officeDocument/2006/relationships/slideMaster" Target="/ppt/slideMasters/slideMaster1.xml" Id="Rc3072c6f779c45e0" /><Relationship Type="http://schemas.openxmlformats.org/officeDocument/2006/relationships/notesMaster" Target="/ppt/notesMasters/notesMaster1.xml" Id="Rfcccc32b604f4a89" /><Relationship Type="http://schemas.openxmlformats.org/officeDocument/2006/relationships/presProps" Target="/ppt/presProps.xml" Id="R37e22873e3184862" /><Relationship Type="http://schemas.openxmlformats.org/officeDocument/2006/relationships/tableStyles" Target="/ppt/tableStyles.xml" Id="R2bf12eb8cfd6450f" /><Relationship Type="http://schemas.openxmlformats.org/officeDocument/2006/relationships/slide" Target="/ppt/slides/slide1.xml" Id="R0451bfa1d9bf483f" /><Relationship Type="http://schemas.openxmlformats.org/officeDocument/2006/relationships/slide" Target="/ppt/slides/slide2.xml" Id="R9b2c570359da4d03" /><Relationship Type="http://schemas.openxmlformats.org/officeDocument/2006/relationships/slide" Target="/ppt/slides/slide3.xml" Id="R7badcddce71048d0" /><Relationship Type="http://schemas.openxmlformats.org/officeDocument/2006/relationships/slide" Target="/ppt/slides/slide4.xml" Id="R6ae3e45ebcfe49cb" /><Relationship Type="http://schemas.openxmlformats.org/officeDocument/2006/relationships/slide" Target="/ppt/slides/slide5.xml" Id="R66515ecd0339466f" /><Relationship Type="http://schemas.openxmlformats.org/officeDocument/2006/relationships/slide" Target="/ppt/slides/slide6.xml" Id="Rf9bb8b2205274dd7" /><Relationship Type="http://schemas.openxmlformats.org/officeDocument/2006/relationships/slide" Target="/ppt/slides/slide7.xml" Id="R9f28f8f8c2194b0a" /><Relationship Type="http://schemas.openxmlformats.org/officeDocument/2006/relationships/slide" Target="/ppt/slides/slide8.xml" Id="R2adec2dfc1174509" /><Relationship Type="http://schemas.openxmlformats.org/officeDocument/2006/relationships/slide" Target="/ppt/slides/slide9.xml" Id="Rfc36d7550d964c25" /><Relationship Type="http://schemas.openxmlformats.org/officeDocument/2006/relationships/slide" Target="/ppt/slides/slide10.xml" Id="R19bea3befc4e4cf4" /><Relationship Type="http://schemas.openxmlformats.org/officeDocument/2006/relationships/slide" Target="/ppt/slides/slide11.xml" Id="Rdae8c2f0a69e45c8" /><Relationship Type="http://schemas.openxmlformats.org/officeDocument/2006/relationships/slide" Target="/ppt/slides/slide12.xml" Id="Rd052d73ed77544c2" /><Relationship Type="http://schemas.openxmlformats.org/officeDocument/2006/relationships/slide" Target="/ppt/slides/slide13.xml" Id="Rfa99435d5cdb46ee" /><Relationship Type="http://schemas.openxmlformats.org/officeDocument/2006/relationships/slide" Target="/ppt/slides/slide14.xml" Id="R62aa74730983495a" /><Relationship Type="http://schemas.openxmlformats.org/officeDocument/2006/relationships/slide" Target="/ppt/slides/slide15.xml" Id="R1cc00697e4434566" /><Relationship Type="http://schemas.openxmlformats.org/officeDocument/2006/relationships/slide" Target="/ppt/slides/slide16.xml" Id="Rb14d9317fcaf4193" /><Relationship Type="http://schemas.openxmlformats.org/officeDocument/2006/relationships/slide" Target="/ppt/slides/slide17.xml" Id="R30b335b1dad842a4" /><Relationship Type="http://schemas.openxmlformats.org/officeDocument/2006/relationships/slide" Target="/ppt/slides/slide18.xml" Id="Rcacbe5c67a564a92" /><Relationship Type="http://schemas.openxmlformats.org/officeDocument/2006/relationships/slide" Target="/ppt/slides/slide19.xml" Id="R0ac2b41116894a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a74f28655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87d66d8c4945cd" /><Relationship Type="http://schemas.openxmlformats.org/officeDocument/2006/relationships/notesMaster" Target="/ppt/notesMasters/notesMaster1.xml" Id="R1b78bf69ffa245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1cc12df92240e0" /><Relationship Type="http://schemas.openxmlformats.org/officeDocument/2006/relationships/notesMaster" Target="/ppt/notesMasters/notesMaster1.xml" Id="R7e5e2f08452141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ce0b49aeb84c33" /><Relationship Type="http://schemas.openxmlformats.org/officeDocument/2006/relationships/notesMaster" Target="/ppt/notesMasters/notesMaster1.xml" Id="R296c48b1a13c49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ed45df52c24eba" /><Relationship Type="http://schemas.openxmlformats.org/officeDocument/2006/relationships/notesMaster" Target="/ppt/notesMasters/notesMaster1.xml" Id="Re1b7847d397c4a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78258442e4888" /><Relationship Type="http://schemas.openxmlformats.org/officeDocument/2006/relationships/notesMaster" Target="/ppt/notesMasters/notesMaster1.xml" Id="R7a40a4776d7a4b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425546df8045e6" /><Relationship Type="http://schemas.openxmlformats.org/officeDocument/2006/relationships/notesMaster" Target="/ppt/notesMasters/notesMaster1.xml" Id="R90b2ae8eb2b24f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53161287b34666" /><Relationship Type="http://schemas.openxmlformats.org/officeDocument/2006/relationships/notesMaster" Target="/ppt/notesMasters/notesMaster1.xml" Id="R495de9924ad844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81b49a3d6c4557" /><Relationship Type="http://schemas.openxmlformats.org/officeDocument/2006/relationships/notesMaster" Target="/ppt/notesMasters/notesMaster1.xml" Id="R14e21a0fd8e84f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c2d9d0330c4392" /><Relationship Type="http://schemas.openxmlformats.org/officeDocument/2006/relationships/notesMaster" Target="/ppt/notesMasters/notesMaster1.xml" Id="Rd05e7de617dc44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46c0b67d344ab9" /><Relationship Type="http://schemas.openxmlformats.org/officeDocument/2006/relationships/notesMaster" Target="/ppt/notesMasters/notesMaster1.xml" Id="R95c1d241351641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0c26abeea942c1" /><Relationship Type="http://schemas.openxmlformats.org/officeDocument/2006/relationships/notesMaster" Target="/ppt/notesMasters/notesMaster1.xml" Id="R7ee2f1cb040c43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70d4067b204496" /><Relationship Type="http://schemas.openxmlformats.org/officeDocument/2006/relationships/notesMaster" Target="/ppt/notesMasters/notesMaster1.xml" Id="R45bb6a2cd42b4f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fafca25e4e4abf" /><Relationship Type="http://schemas.openxmlformats.org/officeDocument/2006/relationships/notesMaster" Target="/ppt/notesMasters/notesMaster1.xml" Id="Rc5fdd3c3dbac48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cb5bc8e4d847e2" /><Relationship Type="http://schemas.openxmlformats.org/officeDocument/2006/relationships/notesMaster" Target="/ppt/notesMasters/notesMaster1.xml" Id="Re555ec01abe240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514b0c703f40d0" /><Relationship Type="http://schemas.openxmlformats.org/officeDocument/2006/relationships/notesMaster" Target="/ppt/notesMasters/notesMaster1.xml" Id="R96cbe6f2a85e47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17e64683504545" /><Relationship Type="http://schemas.openxmlformats.org/officeDocument/2006/relationships/notesMaster" Target="/ppt/notesMasters/notesMaster1.xml" Id="Rf0fd5fc7460c45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585ab28d2543c6" /><Relationship Type="http://schemas.openxmlformats.org/officeDocument/2006/relationships/notesMaster" Target="/ppt/notesMasters/notesMaster1.xml" Id="R0bc0f586f63247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5cd69cd13f45c0" /><Relationship Type="http://schemas.openxmlformats.org/officeDocument/2006/relationships/notesMaster" Target="/ppt/notesMasters/notesMaster1.xml" Id="R13202ebded154d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3f379e3c0f45f1" /><Relationship Type="http://schemas.openxmlformats.org/officeDocument/2006/relationships/notesMaster" Target="/ppt/notesMasters/notesMaster1.xml" Id="R1026762475ce43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服装裁片概念插画，不代表实际设备或生产现场。本方案以通用场景说明业务能力，未使用真实订单或客户数据。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板材在这里指具有明确边界的整块材料，服装场景重点为片状衬材与定尺料块。硬质板材的夹持、刀具与工艺须另行验证。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本页的一维能力特指幅宽搭切业务。其服装应用属于按相同业务模型作出的场景映射，需确认材料与加工条件。不披露实现方法。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纯教学数据。第二种组合未覆盖500 mm规格。宽度求和与订单覆盖仅用于说明业务判断，不构成任何性能或收益承诺。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现有矩形与异形能力边界依据当前功能说明核对。异形排料的边界输出不等于机床执行程序。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匿名上衣样本。本次生成结果为4件排入、0件未排。素材来源为当前程序的无库存副作用预览。所有曲边为折线示意，未验证生产纸样及实机加工。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匿名服装密排示例，本次加工区1500×2000 mm，面积3.000 m²。输入前片3件、后片3件、袖片8件、贴袋12件，共26件。本次排入前片3件、后片3件、袖片4件、贴袋11件，共21件，未排5件。裁片面积约2.480 m²，裁片面积占加工区面积82.7%，未分配面积约0.520 m²。未分配面积尚未划分为可回收料头，不直接视为废料。曲边采用折线示意，固定方向，未加入生产纸样的缝份、间距及完整设备工艺。本次预览不保存业务任务或扣减库存，结果不代表量产节料率或全局最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匿名裤装样本。本次生成结果为6件排入、0件未排。只是给定数量的几何排料，不表示自动建立左右对称、号型或整套约束。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匿名半裙样本。本次生成结果为5件排入、1件未排，不宣称全局最优或已证明无法全部排入。不得把本次排入件数当作合格报工数量。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匿名矩形示例，使用当前程序生成。几何位置与候选余料用于方案复核，生产仍须满足设备工艺并确认实际裁切结果。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匿名简单多边形排料结果，含L形材料、L形与三角零件以及矩形禁放区。支持不规则边界不代表支持孔洞、镜像或任意旋转。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矩形生产工作流具备工位接续与报工处理。独立异形排料目前限于整块加工区，不应对外宣称已经完成异形连续送料全流程。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场景适配说明。简单多边形材料的几何排料已有基础，真实异形料头的建档、保管与生产回写需按项目补齐。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矩形料头复用以实际登记库存为基础。排料预览中的候选余料不等于已入库料头。父料头与子料头不得重复计为可用材料。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本页右列为项目工艺确认项，不表示这些服装专用约束已经全部自动化支持。当前不支持镜像、任意角度旋转、原生曲线和非零刀缝参数。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本页描述现有矩形业务闭环与项目目标流程。异形方案接入同一任务、报工和库存链路属于实施工作，不应以独立异形预览证明已完成。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排料结果与业务报工口径分开。图纸、明细与工单可在对应工作流使用，异形输出暂不含已认证的机床走刀程序。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能力范围截至2026年10月15日。本方案仅以业务语言描述，不披露底层技术、客户身份或项目标识。当前单次异形排料处理一个材料区，不宣称多材料联合分配已交付。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试用时确认材料、需求、工艺、质量要求与统计分母。示意纸样和本次预览不能替代实际生产验证。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c16ae69b641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c1ff57cdf4c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b8e49a11e4d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bb92ba4a844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2e01c557348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fca51d98f4b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3D5DD8-F1AF-4A20-9B8B-E344FE27E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CC8C82-DB77-4098-8A95-2E9413FE95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35B982-A51E-4525-A786-4154AA8B1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7A45F9-9A7C-4F09-9ED4-039F5C8D16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1DC4D1-EDED-415D-B470-5C5C568122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C9E323-B9B5-40FC-AB45-E43069865B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F82ED5-A70A-4D50-82DF-FF8389B48C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6FA1BD-9586-4FAD-90EB-25E3344A38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701583-420E-4212-BA87-9046D9CFE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C0BA31-A76B-437D-88F1-B07AE0712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2bfb23ef68459d" /><Relationship Type="http://schemas.openxmlformats.org/officeDocument/2006/relationships/slideLayout" Target="/ppt/slideLayouts/slideLayout1.xml" Id="R40552c8e1fc04c23" /><Relationship Type="http://schemas.openxmlformats.org/officeDocument/2006/relationships/slideLayout" Target="/ppt/slideLayouts/slideLayout2.xml" Id="R47e2c8afb19e412d" /><Relationship Type="http://schemas.openxmlformats.org/officeDocument/2006/relationships/slideLayout" Target="/ppt/slideLayouts/slideLayout3.xml" Id="Ra486184faf2b42c0" /><Relationship Type="http://schemas.openxmlformats.org/officeDocument/2006/relationships/slideLayout" Target="/ppt/slideLayouts/slideLayout4.xml" Id="R919c0846df9f4056" /><Relationship Type="http://schemas.openxmlformats.org/officeDocument/2006/relationships/slideLayout" Target="/ppt/slideLayouts/slideLayout5.xml" Id="Rafed1df367b745ff" /><Relationship Type="http://schemas.openxmlformats.org/officeDocument/2006/relationships/slideLayout" Target="/ppt/slideLayouts/slideLayout6.xml" Id="Rd27a130d882449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552c8e1fc04c23"/>
    <p:sldLayoutId xmlns:r="http://schemas.openxmlformats.org/officeDocument/2006/relationships" id="2147483650" r:id="R47e2c8afb19e412d"/>
    <p:sldLayoutId xmlns:r="http://schemas.openxmlformats.org/officeDocument/2006/relationships" id="2147483651" r:id="Ra486184faf2b42c0"/>
    <p:sldLayoutId xmlns:r="http://schemas.openxmlformats.org/officeDocument/2006/relationships" id="2147483652" r:id="R919c0846df9f4056"/>
    <p:sldLayoutId xmlns:r="http://schemas.openxmlformats.org/officeDocument/2006/relationships" id="2147483653" r:id="Rafed1df367b745ff"/>
    <p:sldLayoutId xmlns:r="http://schemas.openxmlformats.org/officeDocument/2006/relationships" id="2147483654" r:id="Rd27a130d882449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4f22af9ee4f52" /><Relationship Type="http://schemas.openxmlformats.org/officeDocument/2006/relationships/image" Target="/ppt/media/image.png" Id="Ra5f7888b43e245b8" /><Relationship Type="http://schemas.openxmlformats.org/officeDocument/2006/relationships/notesSlide" Target="/ppt/notesSlides/notesSlide1.xml" Id="R3c4093f3ce3343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d6258bcf542a4" /><Relationship Type="http://schemas.openxmlformats.org/officeDocument/2006/relationships/notesSlide" Target="/ppt/notesSlides/notesSlide2.xml" Id="R71ce5c2f464345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e029abfab4f98" /><Relationship Type="http://schemas.openxmlformats.org/officeDocument/2006/relationships/notesSlide" Target="/ppt/notesSlides/notesSlide3.xml" Id="R40139a3a711b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dfd37d5e0460f" /><Relationship Type="http://schemas.openxmlformats.org/officeDocument/2006/relationships/notesSlide" Target="/ppt/notesSlides/notesSlide4.xml" Id="R987b3bd7164744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f31d12ec143c8" /><Relationship Type="http://schemas.openxmlformats.org/officeDocument/2006/relationships/notesSlide" Target="/ppt/notesSlides/notesSlide5.xml" Id="R6fafee5cfe2843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3e31ef4cf4458" /><Relationship Type="http://schemas.openxmlformats.org/officeDocument/2006/relationships/image" Target="/ppt/media/image2.png" Id="R9120d64550e84cf7" /><Relationship Type="http://schemas.openxmlformats.org/officeDocument/2006/relationships/notesSlide" Target="/ppt/notesSlides/notesSlide6.xml" Id="Re2b1059cb6ce42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c3734fea146f8" /><Relationship Type="http://schemas.openxmlformats.org/officeDocument/2006/relationships/image" Target="/ppt/media/image3.png" Id="R069f0860c22e4f21" /><Relationship Type="http://schemas.openxmlformats.org/officeDocument/2006/relationships/notesSlide" Target="/ppt/notesSlides/notesSlide7.xml" Id="R06bd12130cad49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9cd98790f84ce0" /><Relationship Type="http://schemas.openxmlformats.org/officeDocument/2006/relationships/image" Target="/ppt/media/image4.png" Id="R16a24258f381409a" /><Relationship Type="http://schemas.openxmlformats.org/officeDocument/2006/relationships/notesSlide" Target="/ppt/notesSlides/notesSlide8.xml" Id="R1a5149c5c14a4d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e275c86694b9a" /><Relationship Type="http://schemas.openxmlformats.org/officeDocument/2006/relationships/image" Target="/ppt/media/image5.png" Id="R9017f3950a7748be" /><Relationship Type="http://schemas.openxmlformats.org/officeDocument/2006/relationships/notesSlide" Target="/ppt/notesSlides/notesSlide9.xml" Id="R7110f8e518924c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b54af59704570" /><Relationship Type="http://schemas.openxmlformats.org/officeDocument/2006/relationships/image" Target="/ppt/media/image6.png" Id="R9e2e076edfbc4958" /><Relationship Type="http://schemas.openxmlformats.org/officeDocument/2006/relationships/notesSlide" Target="/ppt/notesSlides/notesSlide10.xml" Id="Ref7dd6f240294e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938bf805d4d2c" /><Relationship Type="http://schemas.openxmlformats.org/officeDocument/2006/relationships/image" Target="/ppt/media/image7.png" Id="Rc12a58e89f404d7a" /><Relationship Type="http://schemas.openxmlformats.org/officeDocument/2006/relationships/notesSlide" Target="/ppt/notesSlides/notesSlide11.xml" Id="Rd35b2c1af7e248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1b7229ed64c9c" /><Relationship Type="http://schemas.openxmlformats.org/officeDocument/2006/relationships/notesSlide" Target="/ppt/notesSlides/notesSlide12.xml" Id="R36a43ca1717a43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1be281b984b68" /><Relationship Type="http://schemas.openxmlformats.org/officeDocument/2006/relationships/notesSlide" Target="/ppt/notesSlides/notesSlide13.xml" Id="Re18814804eec4c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7c0de35dc41cc" /><Relationship Type="http://schemas.openxmlformats.org/officeDocument/2006/relationships/notesSlide" Target="/ppt/notesSlides/notesSlide14.xml" Id="R07aa79d5a1b74e3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060855983460a" /><Relationship Type="http://schemas.openxmlformats.org/officeDocument/2006/relationships/notesSlide" Target="/ppt/notesSlides/notesSlide15.xml" Id="Rc3a4af3e00304a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8996e30a14287" /><Relationship Type="http://schemas.openxmlformats.org/officeDocument/2006/relationships/notesSlide" Target="/ppt/notesSlides/notesSlide16.xml" Id="R86e8ee9007dd43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c1e29828e4146" /><Relationship Type="http://schemas.openxmlformats.org/officeDocument/2006/relationships/notesSlide" Target="/ppt/notesSlides/notesSlide17.xml" Id="R03a2101afe9841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c5209ec9e4d15" /><Relationship Type="http://schemas.openxmlformats.org/officeDocument/2006/relationships/notesSlide" Target="/ppt/notesSlides/notesSlide18.xml" Id="R7101c9711a2e4f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5de77bffd4ff9" /><Relationship Type="http://schemas.openxmlformats.org/officeDocument/2006/relationships/notesSlide" Target="/ppt/notesSlides/notesSlide19.xml" Id="Rc530b5f11c1b41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780E1-DDE6-4F09-9AC8-A73627415A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7888b43e245b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2BA220DB-3B6E-4A07-8178-BC830544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90675"/>
            <a:ext cx="5105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服装与柔性材料</a:t>
            </a:r>
          </a:p>
          <a:p xmlns:a="http://schemas.openxmlformats.org/drawingml/2006/main">
            <a:pPr>
              <a:buNone/>
              <a:def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智能裁切方案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85DAAC5-29CC-4196-8C9F-BC9A24C3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480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C5DBD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C5DB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C5DBDB"/>
                </a:solidFill>
                <a:latin typeface="Microsoft YaHei"/>
                <a:ea typeface="Microsoft YaHei"/>
                <a:cs typeface="Microsoft YaHei"/>
              </a:rPr>
              <a:t>二维异形排料为核心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AA9BAAE-50DD-4DC1-8358-E30B436F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rPr>
              <a:t>幅宽搭切  /  板材与卷材</a:t>
            </a:r>
          </a:p>
          <a:p xmlns:a="http://schemas.openxmlformats.org/drawingml/2006/main">
            <a:pPr>
              <a:buNone/>
              <a:def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8E1E5"/>
                </a:solidFill>
                <a:latin typeface="Microsoft YaHei"/>
                <a:ea typeface="Microsoft YaHei"/>
                <a:cs typeface="Microsoft YaHei"/>
              </a:rPr>
              <a:t>疵点规避  /  料头利用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4E4A349-E094-445F-BB61-21CBDE81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8C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B8C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AD2"/>
                </a:solidFill>
                <a:latin typeface="Microsoft YaHei"/>
                <a:ea typeface="Microsoft YaHei"/>
                <a:cs typeface="Microsoft YaHei"/>
              </a:rPr>
              <a:t>场景交流版   2026.10</a:t>
            </a:r>
          </a:p>
        </p:txBody>
      </p:sp>
    </p:spTree>
    <p:extLst>
      <p:ext uri="{BB962C8B-B14F-4D97-AF65-F5344CB8AC3E}">
        <p14:creationId xmlns:p14="http://schemas.microsoft.com/office/powerpoint/2010/main" val="1237116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6696A77-6C40-4A70-AEA9-BFCD8C0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裁切场景全景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52C49E9-9C90-4144-960B-EC3D39A3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F5A66A4-B810-44B6-AA97-023BC463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一维关注幅宽组合，二维同时安排裁片的形状、位置和方向。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0AE1B-0779-4156-9FB6-C94570E1E1CE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905250"/>
                <a:gridCol w="4781550"/>
              </a:tblGrid>
              <a:tr h="542925"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服装领域举例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主要安排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一维幅宽搭切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面料、衬料分条，条带用料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组合宽度、执行次数、订单数量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二维规则裁片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矩形衬片、垫片、条形辅料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宽长搭配、旋转许可、贯通切割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二维异形裁片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衣身、袖片、裤片、裙片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真实轮廓、方向限制、疵点禁放区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板材 / 片材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片状衬材、定尺材料、已分离料块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整块边界内排料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1818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卷材与料头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分段铺布、短料补单、余料复用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加工区、剩余需求、实际耗用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69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F755010E-E46B-49A6-8EB0-8A9EAF4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一维幅宽搭切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B4C3A96-1C1C-4AAF-9F5C-D62A6BA1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09FD2C-D8AA-4BAE-BDF3-39D2C4F8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一维搭切按幅宽组合多条需求。整幅横切定长是另一种加工操作。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DAE468-6C54-4A72-90A1-19C05D3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业务输入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D902FF-D308-46E2-8254-6985FC50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成品宽度、数量、长度与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可共同加工的工艺条件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F3E3F15-19DE-4062-8A6C-A044C8FB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材料条件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B69C50-6742-416E-BF11-D468162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实际母材幅宽、允许加工幅宽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以及经确认的边部损耗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74ECAF6-3DEC-4861-938E-D7DFBD86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业务输出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4FB1708-7E84-45F4-AA3F-20CBA954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每组宽度组合与执行次数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对应订单的分配和完成数量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E7B0F24-28A5-46B5-9BA7-92432793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服装领域应用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085C3B3-8DFC-429D-B4B9-20A97A57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卷材分条、衬料及条带类用料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按材料和工艺要求分组处理</a:t>
            </a:r>
          </a:p>
        </p:txBody>
      </p:sp>
    </p:spTree>
    <p:extLst>
      <p:ext uri="{BB962C8B-B14F-4D97-AF65-F5344CB8AC3E}">
        <p14:creationId xmlns:p14="http://schemas.microsoft.com/office/powerpoint/2010/main" val="909503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1E3BD6F-E6B7-4F29-8DCB-31684D15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搭切方案需要同时满足订单数量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E57E9F3-9795-403F-873A-B00EE36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D596EB-A513-4342-A633-407AC49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教学示例：同一材料与长度组，不计刀缝及额外修边，不代表实测收益。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7A4E947-A180-426F-B6A1-AB76CA2B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原料幅宽 1600 mm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FE07E-A129-41DB-B7FE-6FE9AD3380E0}"/>
              </a:ext>
            </a:extLst>
          </p:cNvPr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109728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4286250"/>
                <a:gridCol w="2305050"/>
              </a:tblGrid>
              <a:tr h="542925"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宽度组合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每次产出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剩余宽度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</a:tr>
              <a:tr h="823913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+ 500 + 400 mm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三种规格各 1 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3913"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+ 600 + 400 mm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mm 两条、400 mm 一条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87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6D4B545-A2EC-40C7-9DBE-7F3279A1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如果三种规格各需 2 条，第一种组合执行 2 次即可满足。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951D665-C930-4851-8384-96828C6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单次余边最小的组合，仍需与其他组合配合，才能覆盖全部需求。</a:t>
            </a:r>
          </a:p>
        </p:txBody>
      </p:sp>
    </p:spTree>
    <p:extLst>
      <p:ext uri="{BB962C8B-B14F-4D97-AF65-F5344CB8AC3E}">
        <p14:creationId xmlns:p14="http://schemas.microsoft.com/office/powerpoint/2010/main" val="1588038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520264EC-7E20-44EB-AEA8-A31837E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二维排料：按裁片与设备选择方式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46CE779-C830-4CB4-B61E-093B5C6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9DCCA3-1E4F-40F2-820E-555C973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当前异形排料支持简单闭合多边形。服装曲边示例采用折线近似。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8A13FE5-9F28-4C56-A092-FFF650D6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规则图形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4D486BA-37D1-4AF6-B063-DD9CF975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矩形、条形裁片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按尺寸和数量组合安排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BE775D7-E138-4A7E-B44F-10F11E5D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贯通裁切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BC0DBB-D86E-486A-9D69-1D31A9F4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根据设备允许的横切、纵切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安排可逐步分开的矩形布局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B55B780-295D-44A6-9C2E-BDAD992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不规则图形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1FAC7C-EF83-4014-9E12-A5C74453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衣身、袖片与裤片等轮廓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按实际轮廓避让和组合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44D8864-C9DE-4CB9-A81A-C19ED5D9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轮廓裁切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DA07DF4-7C3E-4AAF-9360-537D1159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提供裁片位置与闭合边界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设备刀路需按裁床工艺适配</a:t>
            </a:r>
          </a:p>
        </p:txBody>
      </p:sp>
    </p:spTree>
    <p:extLst>
      <p:ext uri="{BB962C8B-B14F-4D97-AF65-F5344CB8AC3E}">
        <p14:creationId xmlns:p14="http://schemas.microsoft.com/office/powerpoint/2010/main" val="145976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BDEE24FB-F732-4F54-B385-4B3EA5E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上衣裁片：衣身与袖片组合排料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CDC3A2-AD20-4B82-9EE5-98CEAE8C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C02B1D-0960-46F6-9727-6C37E10F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匿名示例纸样，固定方向。图为程序生成的排料预览，不是生产纸样。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9A29E8-0D6B-4590-81F3-DC94A2D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1B0591C-B2FC-4D0C-B712-138A87D4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前片 1 件、后片 1 件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袖片 2 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B7928F-F198-4FA5-91AB-7FA151CD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本次结果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FB71A15-CA22-4B70-923D-60565C6B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4 件全部排入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保留衣身和袖片的轮廓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622F530-AE86-40D5-8E5B-FBBB3D9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现场核对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6666F71-2BB8-4E90-94CE-309861D7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丝缕方向、裁剪尺寸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缝份与面料正反面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0C3DD-5B12-4CF7-BE4F-504B6D10A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0d64550e84cf7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18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nse-0">
            <a:extLst xmlns:a="http://schemas.openxmlformats.org/drawingml/2006/main">
              <a:ext uri="{FF2B5EF4-FFF2-40B4-BE49-F238E27FC236}">
                <a16:creationId xmlns:a16="http://schemas.microsoft.com/office/drawing/2014/main" id="{7D52F7CE-7877-46BF-B498-0129E7AB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衣身、袖片与贴袋密排</a:t>
            </a:r>
          </a:p>
        </p:txBody>
      </p:sp>
      <p:sp>
        <p:nvSpPr>
          <p:cNvPr id="2" name="dense-1">
            <a:extLst xmlns:a="http://schemas.openxmlformats.org/drawingml/2006/main">
              <a:ext uri="{FF2B5EF4-FFF2-40B4-BE49-F238E27FC236}">
                <a16:creationId xmlns:a16="http://schemas.microsoft.com/office/drawing/2014/main" id="{F1E330EB-0BB9-4817-A4BA-4870ED4C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材料与需求</a:t>
            </a:r>
          </a:p>
        </p:txBody>
      </p:sp>
      <p:sp>
        <p:nvSpPr>
          <p:cNvPr id="3" name="dense-2">
            <a:extLst xmlns:a="http://schemas.openxmlformats.org/drawingml/2006/main">
              <a:ext uri="{FF2B5EF4-FFF2-40B4-BE49-F238E27FC236}">
                <a16:creationId xmlns:a16="http://schemas.microsoft.com/office/drawing/2014/main" id="{55F5BE55-EE01-4D94-A282-9637765A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810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加工区 1500 × 2000 mm</a:t>
            </a:r>
          </a:p>
          <a:p xmlns:a="http://schemas.openxmlformats.org/drawingml/2006/main">
            <a:pPr>
              <a:defRPr sz="1800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前片 3、后片 3、袖片 8、贴袋 12</a:t>
            </a:r>
          </a:p>
        </p:txBody>
      </p:sp>
      <p:sp>
        <p:nvSpPr>
          <p:cNvPr id="4" name="dense-3">
            <a:extLst xmlns:a="http://schemas.openxmlformats.org/drawingml/2006/main">
              <a:ext uri="{FF2B5EF4-FFF2-40B4-BE49-F238E27FC236}">
                <a16:creationId xmlns:a16="http://schemas.microsoft.com/office/drawing/2014/main" id="{054E4516-CF9C-48E1-96C7-D6FF8E07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本次排料</a:t>
            </a:r>
          </a:p>
        </p:txBody>
      </p:sp>
      <p:sp>
        <p:nvSpPr>
          <p:cNvPr id="5" name="dense-4">
            <a:extLst xmlns:a="http://schemas.openxmlformats.org/drawingml/2006/main">
              <a:ext uri="{FF2B5EF4-FFF2-40B4-BE49-F238E27FC236}">
                <a16:creationId xmlns:a16="http://schemas.microsoft.com/office/drawing/2014/main" id="{1BCE2350-3F31-4D90-9F29-B7AFC19C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已排入 21 件，未排 5 件</a:t>
            </a:r>
          </a:p>
          <a:p xmlns:a="http://schemas.openxmlformats.org/drawingml/2006/main">
            <a: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待安排：袖片 4 件、贴袋 1 件</a:t>
            </a:r>
          </a:p>
        </p:txBody>
      </p:sp>
      <p:sp>
        <p:nvSpPr>
          <p:cNvPr id="6" name="dense-5">
            <a:extLst xmlns:a="http://schemas.openxmlformats.org/drawingml/2006/main">
              <a:ext uri="{FF2B5EF4-FFF2-40B4-BE49-F238E27FC236}">
                <a16:creationId xmlns:a16="http://schemas.microsoft.com/office/drawing/2014/main" id="{51C6B84D-25E5-45A3-8595-EA799BD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裁片面积占比</a:t>
            </a:r>
          </a:p>
        </p:txBody>
      </p:sp>
      <p:sp>
        <p:nvSpPr>
          <p:cNvPr id="7" name="dense-6">
            <a:extLst xmlns:a="http://schemas.openxmlformats.org/drawingml/2006/main">
              <a:ext uri="{FF2B5EF4-FFF2-40B4-BE49-F238E27FC236}">
                <a16:creationId xmlns:a16="http://schemas.microsoft.com/office/drawing/2014/main" id="{11915553-A8DE-497B-AF80-112E8FD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23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82.7%</a:t>
            </a:r>
          </a:p>
        </p:txBody>
      </p:sp>
      <p:sp>
        <p:nvSpPr>
          <p:cNvPr id="8" name="dense-7">
            <a:extLst xmlns:a="http://schemas.openxmlformats.org/drawingml/2006/main">
              <a:ext uri="{FF2B5EF4-FFF2-40B4-BE49-F238E27FC236}">
                <a16:creationId xmlns:a16="http://schemas.microsoft.com/office/drawing/2014/main" id="{F3ED5584-A3D3-450D-B8AB-0ECDC820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未分配面积 0.520 m²</a:t>
            </a:r>
          </a:p>
        </p:txBody>
      </p:sp>
      <p:sp>
        <p:nvSpPr>
          <p:cNvPr id="9" name="dense-8">
            <a:extLst xmlns:a="http://schemas.openxmlformats.org/drawingml/2006/main">
              <a:ext uri="{FF2B5EF4-FFF2-40B4-BE49-F238E27FC236}">
                <a16:creationId xmlns:a16="http://schemas.microsoft.com/office/drawing/2014/main" id="{B0465D73-C430-499C-989D-FEE0A287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匿名示例纸样，固定方向。占比按本次加工区面积计算，不代表量产节料率。</a:t>
            </a:r>
          </a:p>
        </p:txBody>
      </p:sp>
      <p:sp>
        <p:nvSpPr>
          <p:cNvPr id="10" name="dense-9">
            <a:extLst xmlns:a="http://schemas.openxmlformats.org/drawingml/2006/main">
              <a:ext uri="{FF2B5EF4-FFF2-40B4-BE49-F238E27FC236}">
                <a16:creationId xmlns:a16="http://schemas.microsoft.com/office/drawing/2014/main" id="{15522720-977D-4532-8D3D-85CAB7D9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531E0-031A-4F2B-8DC6-31CA7F4B9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f0860c22e4f21"/>
          <a:srcRect xmlns:a="http://schemas.openxmlformats.org/drawingml/2006/main" l="30000" t="4500" r="19000" b="5000"/>
          <a:stretch xmlns:a="http://schemas.openxmlformats.org/drawingml/2006/main"/>
        </p:blipFill>
        <p:spPr>
          <a:xfrm xmlns:a="http://schemas.openxmlformats.org/drawingml/2006/main">
            <a:off x="6629400" y="1304925"/>
            <a:ext cx="3953066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734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15D9B18-4149-4FA8-B495-A47730B2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裤装裁片：长片与小片共同安排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EBA2AB-BE55-472A-A2A2-EF49111C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C545C4-1112-4804-BEE4-1AB4D28A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匿名示例纸样，固定方向。裤片配对、左右片及号型齐套规则需按项目约定。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2F5EFF-6D99-4902-B1E3-3201CC36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5E933CB-5716-4EA3-B6B5-15EA6F35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前裤片 2 件、后裤片 2 件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裤袋 2 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9BFF33E-F7A1-4246-A65A-7AD45301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本次结果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220BD4E-D153-49B9-AAFA-B25CA3F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6 件全部排入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按轮廓与方向安排位置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862B58F-4C20-455D-9FAB-B5E12BD8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场景价值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BCA3936-7B9C-42E2-9D00-9768B37A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长片与小片共同规划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剩余空区保留真实形状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E9E52-CCEA-4B4C-A152-C47BFD0097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24258f381409a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4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DDBBF84-36F3-4329-8B0C-BEB8C83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裙片排料：未排需求继续保留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3C533AD-B5EF-4937-B2A1-35A333F2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3D0F5B-D29A-4392-A424-06F707F3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匿名示例纸样。本次未排入不等于无法排入，可调整加工区或安排下一块材料。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A767A30-1240-43D5-B704-2D7DB930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C7AC2ED-1DC1-47C1-947F-46CBE1E3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半裙裁片 4 件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贴袋 2 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BE0456-4B39-4AC8-953F-37BB39BF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本次结果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B080DE3-4DE9-4A66-987E-DE46F17A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共排入 5 件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剩余 1 件需求待安排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EC6C8EA-D699-463D-B8F4-ABC6593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作业处理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5D63F2B-54F3-4C8A-817E-1947F476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核对具体未排项目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复核下一块材料与补裁安排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8B4E4-A50C-41E6-84BF-8A19DD9CC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7f3950a7748be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375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3F35E2B-0124-48B3-9924-EE800D47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规则裁片与疵点避让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1DECB3-0E55-416F-9976-4FF922C4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93CF44-C02D-4951-966B-B4A2F8F6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红色区域为禁放区。候选余料需经实物分离、实测和确认后才能入库。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821DF7-6F43-40D2-9B7B-4ACFC214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适用对象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722E93B-71AD-4F5C-91E5-2226BE58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矩形衬片、条形裁片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定尺辅料与规则料块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864629E-994A-4F7B-AB0F-3EF2DD38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安排方式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4EA2C0E-505D-4F07-9CDC-163B3E1A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在允许加工区域内放置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避开疵点及保护范围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395A4B2-4DF6-48B4-81FC-B9B87DBF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结果用途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488C95E-0D2D-4001-B45D-5C9824CA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查看裁片和矩形候选余料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核对纵横切割步骤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1C021-FAB5-431D-852E-6AE3A087D1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e076edfbc4958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37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555BE0D-6C3D-41CF-83DC-5156969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异形边界与局部疵点规避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D0749C-B756-4F09-9ACD-655F7F6D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EEC357-E200-4619-818F-CE216BE1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图中红色方块为禁放区，外侧轮廓为材料边界。剩余空区不能直接作为料头库存。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B365560-22DE-41C4-A283-54CD33B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真实可用边界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CDD5D63-4E6E-478F-BC48-1623FF5C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整块材料可以是凹形轮廓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缺角部分不计为可用材料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05F2D00-23AE-41AF-9EE9-5D23D596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局部避让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5223A15-E0C2-4A56-BCDF-77DCA98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把已确认的疵点设为禁放区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保留周边可用部分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8546DC9-16CF-4BE8-8004-320CE38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保护范围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E0C1B64-B407-44C1-AD89-F1072B1B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矩形疵点可增加保护距离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异形疵点需提供完整保护轮廓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95E96-86DA-4524-9DF7-2D7CBFE7F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a58e89f404d7a"/>
          <a:srcRect xmlns:a="http://schemas.openxmlformats.org/drawingml/2006/main" l="26000" t="10000" r="12000" b="12000"/>
          <a:stretch xmlns:a="http://schemas.openxmlformats.org/drawingml/2006/main"/>
        </p:blipFill>
        <p:spPr>
          <a:xfrm xmlns:a="http://schemas.openxmlformats.org/drawingml/2006/main">
            <a:off x="5667375" y="1476375"/>
            <a:ext cx="5905500" cy="4257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929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304B7EA1-A02C-49DA-8066-5277B0C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卷材切割与分段铺布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EB31CB-3880-4750-96A9-AB317C3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95F08B-6899-4604-8452-38BABB54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当前异形排料按已确认的单块加工区使用，异形连续送料与跨工位执行需专项适配。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BF0013F-AA68-4ACC-9EE7-5309A1E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01  确认本次加工区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82B9AE3-45B0-407F-896B-C1F07576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核对门幅、铺布长度、布头位置与疵点范围。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BDD5189-40F8-481E-A9E8-FE4A81A3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02  安排本段裁片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0375A5-D575-4F68-8FEB-4B4E90AA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按剩余需求排料，保留未排数量与已经完成的结果。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E5BF2A9-E3E1-408A-BB96-BCD45ABF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03  确认实际裁切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EDB5602-1558-46E8-82A3-85CB8250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记录实际分离长度、合格产出和需要回收的材料。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F10DAD3-3F00-48CB-A8EA-DA6B66C1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04  继续后续作业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A1EC20B-27F3-426A-BAA8-0ADEDFAD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推进或重新铺布后复核基准，再安排下一加工区。</a:t>
            </a:r>
          </a:p>
        </p:txBody>
      </p:sp>
    </p:spTree>
    <p:extLst>
      <p:ext uri="{BB962C8B-B14F-4D97-AF65-F5344CB8AC3E}">
        <p14:creationId xmlns:p14="http://schemas.microsoft.com/office/powerpoint/2010/main" val="13687526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A2CAE074-E74B-42CB-8B13-DB9275E7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板材、片材与不规则料块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86DF07-4BA5-49A1-AB44-F31BDDC2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EEA1DE-C6A2-47DD-9319-530E449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排料前确认实际材料边界。硬质板材还需单独核对夹持、刀缝与切割设备。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D1DDE6-B209-4F62-B600-F217089B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整块材料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4BE350F-77A4-425E-8F7B-C717D86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片状衬材、定尺垫材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已分离并确认尺寸的料块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66058E9-A3C5-4C17-9324-EDF6D363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规则边界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9FA21E4-85CE-4F67-A634-6D995648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输入整块宽度与长度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明确禁放区和裁片方向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069DE96-E93E-4C13-BB4A-8D804962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不规则边界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60DC744-FB51-4700-918E-45D4992B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缺角、凹形轮廓按实物记录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不得把外接矩形全算作好料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67C7BC4-49D3-4303-9F70-03FE9E6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服装应用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A5D0BB4-D038-4743-9077-6946262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补裁小片、口袋、衬片等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先核对材质、批次和质量</a:t>
            </a:r>
          </a:p>
        </p:txBody>
      </p:sp>
    </p:spTree>
    <p:extLst>
      <p:ext uri="{BB962C8B-B14F-4D97-AF65-F5344CB8AC3E}">
        <p14:creationId xmlns:p14="http://schemas.microsoft.com/office/powerpoint/2010/main" val="2678003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8A18ED6F-B3CF-4EC0-9B63-9113B06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料头利用：回收之后继续匹配需求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785BF31-CFCA-49FC-906B-27A4687C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361BE5B-5717-4FE6-B8C5-CB4B6E4B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当前矩形料头已有库存复用流程。异形残余的自动识别、拆分与入库仍需扩展。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678FAF9-3D1F-4055-BC17-759D29F5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实物确认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896943-198B-4370-ABC5-24A26A39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裁切完成后分离余料，量尺、检查疵点并确认可用边界。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A766EBB-69E7-4EC0-AC3D-2C08DDE1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登记入库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9B6778F-B023-4280-A805-214B19B3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记录唯一编号、尺寸、材料批次、质量、库位和来源。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A50F112-F743-49A0-927C-F79DB075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优先匹配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212FDEF-E4C8-40B6-9619-A1BA05F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按待完成需求查找可用料头，复核方向、尺寸和疵点。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B3C628D-38A0-46B6-BB94-1716F057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复用报工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0F433FD-5C24-468E-B310-5799F3FE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消耗原料头，确认子料头并保留来源，母卷不重复扣料。</a:t>
            </a:r>
          </a:p>
        </p:txBody>
      </p:sp>
    </p:spTree>
    <p:extLst>
      <p:ext uri="{BB962C8B-B14F-4D97-AF65-F5344CB8AC3E}">
        <p14:creationId xmlns:p14="http://schemas.microsoft.com/office/powerpoint/2010/main" val="2190281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690924B-E323-495F-AB39-0056A985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服装工艺条件决定方案能否使用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D390C5-C06B-4553-AFE1-15D3F79F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32558E-972B-4F77-9601-9EA683F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当前支持固定方向或按许可进行直角旋转，复杂服装规则需单独确认。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48999-DC88-41F9-AEC9-56F09C507C6B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81500"/>
                <a:gridCol w="4400550"/>
              </a:tblGrid>
              <a:tr h="542925"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本次排料如何使用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实施时需要确认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丝缕与方向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固定方向，或允许直角旋转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顺毛、倒顺光、正反面规则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裁片形状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使用已提供的闭合轮廓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生产纸样、曲线精度与缝份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成套与号型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按给定的裁片数量安排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尺码配比、左右片与成套规则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条格与色差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按确认的可用区和禁放区处理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对条对格、花位与色差分区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裁床工艺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核对图形位置和加工区范围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铺层、夹持、间隙及设备刀路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9872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216DD487-5E9E-4264-AC13-BEF8C2B6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实际报工连接需求与材料台账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797E48-59AA-433B-8DA4-428E5B23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A816E7-BAC1-48AC-9315-10AEFCD3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预览和保存方案不等于实际裁切。母卷按实际分离长度扣料，料头复用不重复扣母卷。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C087BF-2A92-442F-9E3E-B01E5CBB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裁切前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99F5C6C-F542-4D9D-B105-454B5C9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录入需求并选择材料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确认本次范围、方向和疵点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C0E6E97-185A-49C6-B752-84E329B9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裁切中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E0311A3-C3FB-4CC9-A159-CAC2CF4F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按已确认方案执行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异常、少裁和未排需求继续保留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4C77F2C-AEDE-468C-A3B0-1A1F6578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裁切后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99E6B8D-FBB5-4FC6-999D-04BD8B90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核对实际合格数量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实际耗用与可回收材料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120C4F6-8A8B-43DE-8A47-E70EDD2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继续生产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151C0AC-E05E-44E6-B0EC-04BF90B9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更新剩余需求与材料台账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匹配料头或安排下一个加工区</a:t>
            </a:r>
          </a:p>
        </p:txBody>
      </p:sp>
    </p:spTree>
    <p:extLst>
      <p:ext uri="{BB962C8B-B14F-4D97-AF65-F5344CB8AC3E}">
        <p14:creationId xmlns:p14="http://schemas.microsoft.com/office/powerpoint/2010/main" val="13110829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A47443B4-3044-4CE3-B3B3-47127261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交付给现场的业务结果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9AC15B-B482-4E2A-BBC2-AC553D84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0BC745-7541-4673-854E-051FD3BE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异形方案当前提供排料图与裁片边界，机床执行文件需经专项适配及现场验证。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0801528-4F89-486E-8C5F-6CC6CA1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排料方案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9739C99-F85B-4167-AB6D-88E1FE5D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每件裁片的位置、方向和数量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材料边界与疵点避让范围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42938E1-9ED8-42F4-9F14-E0BC191F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需求核对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DA7296E-D153-432A-93CC-42634EE4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本次已排数量与未排数量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实际报工后的剩余需求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3FD6C9B-FBAB-442B-848F-BA2DAB61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668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材料记录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5317588-689F-4100-B145-6A64DF1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本次实际耗用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已确认料头与后续可用库存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703326-5C5C-4B61-A027-68F61600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作业资料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4882A19-93D4-409A-BCEC-EF0995C2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493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图纸、明细与操作依据</a:t>
            </a:r>
          </a:p>
          <a:p xmlns:a="http://schemas.openxmlformats.org/drawingml/2006/main">
            <a:pPr>
              <a:buNone/>
              <a:def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矩形切割步骤及现场核对项</a:t>
            </a:r>
          </a:p>
        </p:txBody>
      </p:sp>
    </p:spTree>
    <p:extLst>
      <p:ext uri="{BB962C8B-B14F-4D97-AF65-F5344CB8AC3E}">
        <p14:creationId xmlns:p14="http://schemas.microsoft.com/office/powerpoint/2010/main" val="17079564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3FC5CB8-97F5-48AE-AC0F-0F4D282F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当前基础与项目实施范围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CFB072-2AEB-462D-B145-D544C9EB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6C191BB-5F29-4C43-9075-2A133D4D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实施范围按材料样本、裁床工艺和业务流程确认，不预设节料率或实际加工精度。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4845-AD78-4E4C-895F-857D162555C3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38625"/>
                <a:gridCol w="4352925"/>
              </a:tblGrid>
              <a:tr h="542925"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当前基础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项目实施重点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T w="9525">
                      <a:solidFill>
                        <a:srgbClr val="DCE4E6"/>
                      </a:solidFill>
                      <a:prstDash val="solid"/>
                    </a:lnT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152B3B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一维幅宽搭切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宽度组合、次数及需求分配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服装材料分组与作业指令衔接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二维规则排料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矩形排料、避疵与切割步骤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实际间隙、设备能力与样本验证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二维异形排料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简单轮廓、方向与禁放区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生产纸样、服装规则及完整刀路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卷材作业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矩形工位接续与报工流程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异形连续送料及跨工位作业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EDF2F2"/>
                    </a:solidFill>
                  </a:tcPr>
                </a:tc>
              </a:tr>
              <a:tr h="725805"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料头利用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6"/>
                      </a:solidFill>
                      <a:prstDash val="solid"/>
                    </a:lnL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矩形料头建档、匹配和复用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1725" b="0">
                          <a:solidFill>
                            <a:srgbClr val="213B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异形余料回收与业务流程衔接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6"/>
                      </a:solidFill>
                      <a:prstDash val="solid"/>
                    </a:lnR>
                    <a:lnB w="9525">
                      <a:solidFill>
                        <a:srgbClr val="DCE4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023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3A69686E-E213-4E35-B350-61C82084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52B3B"/>
                </a:solidFill>
                <a:latin typeface="Microsoft YaHei"/>
                <a:ea typeface="Microsoft YaHei"/>
                <a:cs typeface="Microsoft YaHei"/>
              </a:rPr>
              <a:t>用一组真实材料验证完整作业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9F3D00-8041-4923-A397-E2F48107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14468C-CB1C-4210-AF5C-F3F0A2B4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23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886"/>
                </a:solidFill>
                <a:latin typeface="Microsoft YaHei"/>
                <a:ea typeface="Microsoft YaHei"/>
                <a:cs typeface="Microsoft YaHei"/>
              </a:rPr>
              <a:t>评价口径一致后，再比较材料消耗、合格产出、料头复用与操作时间。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B0E28C7-9AFB-499E-B295-A06C7BEA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试用样本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0B11C33-A770-4CA7-B31F-AFB3A032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一组幅宽搭切需求、一套服装裁片、带疵材料与可复用料头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6A7FD70-1561-446E-A3AD-7C35D2D0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现场验证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A12AF30-1C6F-452C-880B-2DA778D0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核对纸样与工艺，生成方案，执行裁切，记录耗用并复用料头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C50509F-4980-4B7A-B1B3-B2D92B9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验收依据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3C83118-6C22-498B-AA38-85C0713F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3B4B"/>
                </a:solidFill>
                <a:latin typeface="Microsoft YaHei"/>
                <a:ea typeface="Microsoft YaHei"/>
                <a:cs typeface="Microsoft YaHei"/>
              </a:rPr>
              <a:t>同一材料、同一需求、同一质量标准下的实际作业记录</a:t>
            </a:r>
          </a:p>
        </p:txBody>
      </p:sp>
    </p:spTree>
    <p:extLst>
      <p:ext uri="{BB962C8B-B14F-4D97-AF65-F5344CB8AC3E}">
        <p14:creationId xmlns:p14="http://schemas.microsoft.com/office/powerpoint/2010/main" val="759749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Presentation</ap:Application>
  <ap:PresentationFormat>宽屏</ap:PresentationFormat>
  <ap:Slides>19</ap:Slides>
  <ap:Notes>19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服装与柔性材料智能裁切方案</dc:title>
  <dcterms:created xsi:type="dcterms:W3CDTF">2026-10-15T03:40:35.7140000Z</dcterms:created>
  <dcterms:modified xsi:type="dcterms:W3CDTF">2026-10-15T03:40:35.7140000Z</dcterms:modified>
</coreProperties>
</file>